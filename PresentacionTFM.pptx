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4398" r:id="rId1"/>
  </p:sldMasterIdLst>
  <p:notesMasterIdLst>
    <p:notesMasterId r:id="rId27"/>
  </p:notesMasterIdLst>
  <p:sldIdLst>
    <p:sldId id="308" r:id="rId2"/>
    <p:sldId id="307" r:id="rId3"/>
    <p:sldId id="257" r:id="rId4"/>
    <p:sldId id="316" r:id="rId5"/>
    <p:sldId id="328" r:id="rId6"/>
    <p:sldId id="317" r:id="rId7"/>
    <p:sldId id="262" r:id="rId8"/>
    <p:sldId id="318" r:id="rId9"/>
    <p:sldId id="319" r:id="rId10"/>
    <p:sldId id="267" r:id="rId11"/>
    <p:sldId id="320" r:id="rId12"/>
    <p:sldId id="321" r:id="rId13"/>
    <p:sldId id="329" r:id="rId14"/>
    <p:sldId id="322" r:id="rId15"/>
    <p:sldId id="323" r:id="rId16"/>
    <p:sldId id="324" r:id="rId17"/>
    <p:sldId id="278" r:id="rId18"/>
    <p:sldId id="330" r:id="rId19"/>
    <p:sldId id="325" r:id="rId20"/>
    <p:sldId id="326" r:id="rId21"/>
    <p:sldId id="332" r:id="rId22"/>
    <p:sldId id="327" r:id="rId23"/>
    <p:sldId id="306" r:id="rId24"/>
    <p:sldId id="314" r:id="rId25"/>
    <p:sldId id="276" r:id="rId26"/>
  </p:sldIdLst>
  <p:sldSz cx="10083800" cy="5670550"/>
  <p:notesSz cx="10083800" cy="567055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A107856-5554-42FB-B03E-39F5DBC370BA}" styleName="Estilo medio 4 - Énfasis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AF606853-7671-496A-8E4F-DF71F8EC918B}" styleName="Estilo oscuro 1 - Énfasis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46F890A9-2807-4EBB-B81D-B2AA78EC7F39}" styleName="Estilo oscuro 2 - Énfasis 5/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EBBBCC-DAD2-459C-BE2E-F6DE35CF9A28}" styleName="Estilo oscuro 2 - Énfasis 3/Énfasis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660B408-B3CF-4A94-85FC-2B1E0A45F4A2}" styleName="Estilo oscuro 2 - Énfasis 1/Énfasis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202B0CA-FC54-4496-8BCA-5EF66A818D29}" styleName="Estilo oscuro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929F9F4-4A8F-4326-A1B4-22849713DDAB}" styleName="Estilo oscuro 1 - Énfasis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F1AB2-1976-4502-BF36-3FF5EA218861}" styleName="Estilo medio 4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E25E649-3F16-4E02-A733-19D2CDBF48F0}" styleName="Estilo medio 3 - Énfasis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Estilo medio 3 - Énfasis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643"/>
  </p:normalViewPr>
  <p:slideViewPr>
    <p:cSldViewPr>
      <p:cViewPr varScale="1">
        <p:scale>
          <a:sx n="127" d="100"/>
          <a:sy n="127" d="100"/>
        </p:scale>
        <p:origin x="792" y="12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7-11T17:25:04.5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70388" cy="2841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11825" y="0"/>
            <a:ext cx="4370388" cy="2841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F458A7-E304-4B75-B616-1047E626D4A8}" type="datetimeFigureOut">
              <a:rPr lang="es-ES" smtClean="0"/>
              <a:t>07/10/2024</a:t>
            </a:fld>
            <a:endParaRPr lang="es-E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41688" y="709613"/>
            <a:ext cx="3400425" cy="1912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08063" y="2728913"/>
            <a:ext cx="8067675" cy="22336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5386388"/>
            <a:ext cx="4370388" cy="2841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11825" y="5386388"/>
            <a:ext cx="4370388" cy="2841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43290F-0946-4586-A17A-5C18B3FE554D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49836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43290F-0946-4586-A17A-5C18B3FE554D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382724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43290F-0946-4586-A17A-5C18B3FE554D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98682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43290F-0946-4586-A17A-5C18B3FE554D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3527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C43290F-0946-4586-A17A-5C18B3FE554D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8171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C43290F-0946-4586-A17A-5C18B3FE554D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38183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Comentar aquí que el punto numero 7 sería el paso que falta por dar, y podría hacerse de diferentes maneras (forzar que esta sea la pregunta)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43290F-0946-4586-A17A-5C18B3FE554D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977391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C43290F-0946-4586-A17A-5C18B3FE554D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394382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C43290F-0946-4586-A17A-5C18B3FE554D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5582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7001"/>
            <a:ext cx="10083800" cy="5677551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46470" y="1988193"/>
            <a:ext cx="6423903" cy="1361248"/>
          </a:xfrm>
        </p:spPr>
        <p:txBody>
          <a:bodyPr anchor="b">
            <a:noAutofit/>
          </a:bodyPr>
          <a:lstStyle>
            <a:lvl1pPr algn="r">
              <a:defRPr sz="4465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46470" y="3349439"/>
            <a:ext cx="6423903" cy="906973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780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561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341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122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8902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683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464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244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C7A90-1C96-4A7B-A2DE-1A0322E79ED6}" type="datetime1">
              <a:rPr lang="en-US" smtClean="0"/>
              <a:t>10/7/2024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8997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3D5B9-0737-4392-8C51-820A4A8DE358}" type="datetime1">
              <a:rPr lang="en-US" smtClean="0"/>
              <a:t>10/7/2024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4471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212" y="2233217"/>
            <a:ext cx="7110161" cy="1510312"/>
          </a:xfrm>
        </p:spPr>
        <p:txBody>
          <a:bodyPr anchor="b"/>
          <a:lstStyle>
            <a:lvl1pPr algn="l">
              <a:defRPr sz="3308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0212" y="3743529"/>
            <a:ext cx="7110161" cy="711423"/>
          </a:xfrm>
        </p:spPr>
        <p:txBody>
          <a:bodyPr anchor="t"/>
          <a:lstStyle>
            <a:lvl1pPr marL="0" indent="0" algn="l">
              <a:buNone/>
              <a:defRPr sz="1654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78059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2pPr>
            <a:lvl3pPr marL="756117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3pPr>
            <a:lvl4pPr marL="1134176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4pPr>
            <a:lvl5pPr marL="1512235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5pPr>
            <a:lvl6pPr marL="1890293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6pPr>
            <a:lvl7pPr marL="2268352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7pPr>
            <a:lvl8pPr marL="2646411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8pPr>
            <a:lvl9pPr marL="3024469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5EB67B-0400-46DD-8D0E-0C38D8553287}" type="datetime1">
              <a:rPr lang="en-US" smtClean="0"/>
              <a:t>10/7/2024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083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60212" y="1786487"/>
            <a:ext cx="3460546" cy="32088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09829" y="1786488"/>
            <a:ext cx="3460545" cy="32088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E9949-E915-4358-9CFB-B9A3D11A8E12}" type="datetime1">
              <a:rPr lang="en-US" smtClean="0"/>
              <a:t>10/7/2024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96330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8898" y="1786813"/>
            <a:ext cx="3461859" cy="476483"/>
          </a:xfrm>
        </p:spPr>
        <p:txBody>
          <a:bodyPr anchor="b">
            <a:noAutofit/>
          </a:bodyPr>
          <a:lstStyle>
            <a:lvl1pPr marL="0" indent="0">
              <a:buNone/>
              <a:defRPr sz="1985" b="0"/>
            </a:lvl1pPr>
            <a:lvl2pPr marL="378059" indent="0">
              <a:buNone/>
              <a:defRPr sz="1654" b="1"/>
            </a:lvl2pPr>
            <a:lvl3pPr marL="756117" indent="0">
              <a:buNone/>
              <a:defRPr sz="1488" b="1"/>
            </a:lvl3pPr>
            <a:lvl4pPr marL="1134176" indent="0">
              <a:buNone/>
              <a:defRPr sz="1323" b="1"/>
            </a:lvl4pPr>
            <a:lvl5pPr marL="1512235" indent="0">
              <a:buNone/>
              <a:defRPr sz="1323" b="1"/>
            </a:lvl5pPr>
            <a:lvl6pPr marL="1890293" indent="0">
              <a:buNone/>
              <a:defRPr sz="1323" b="1"/>
            </a:lvl6pPr>
            <a:lvl7pPr marL="2268352" indent="0">
              <a:buNone/>
              <a:defRPr sz="1323" b="1"/>
            </a:lvl7pPr>
            <a:lvl8pPr marL="2646411" indent="0">
              <a:buNone/>
              <a:defRPr sz="1323" b="1"/>
            </a:lvl8pPr>
            <a:lvl9pPr marL="3024469" indent="0">
              <a:buNone/>
              <a:defRPr sz="13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8898" y="2263297"/>
            <a:ext cx="3461859" cy="273201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08517" y="1786813"/>
            <a:ext cx="3461855" cy="476483"/>
          </a:xfrm>
        </p:spPr>
        <p:txBody>
          <a:bodyPr anchor="b">
            <a:noAutofit/>
          </a:bodyPr>
          <a:lstStyle>
            <a:lvl1pPr marL="0" indent="0">
              <a:buNone/>
              <a:defRPr sz="1985" b="0"/>
            </a:lvl1pPr>
            <a:lvl2pPr marL="378059" indent="0">
              <a:buNone/>
              <a:defRPr sz="1654" b="1"/>
            </a:lvl2pPr>
            <a:lvl3pPr marL="756117" indent="0">
              <a:buNone/>
              <a:defRPr sz="1488" b="1"/>
            </a:lvl3pPr>
            <a:lvl4pPr marL="1134176" indent="0">
              <a:buNone/>
              <a:defRPr sz="1323" b="1"/>
            </a:lvl4pPr>
            <a:lvl5pPr marL="1512235" indent="0">
              <a:buNone/>
              <a:defRPr sz="1323" b="1"/>
            </a:lvl5pPr>
            <a:lvl6pPr marL="1890293" indent="0">
              <a:buNone/>
              <a:defRPr sz="1323" b="1"/>
            </a:lvl6pPr>
            <a:lvl7pPr marL="2268352" indent="0">
              <a:buNone/>
              <a:defRPr sz="1323" b="1"/>
            </a:lvl7pPr>
            <a:lvl8pPr marL="2646411" indent="0">
              <a:buNone/>
              <a:defRPr sz="1323" b="1"/>
            </a:lvl8pPr>
            <a:lvl9pPr marL="3024469" indent="0">
              <a:buNone/>
              <a:defRPr sz="13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08518" y="2263297"/>
            <a:ext cx="3461854" cy="273201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21C35-EBA9-476E-A6BD-EFE746D8B54E}" type="datetime1">
              <a:rPr lang="en-US" smtClean="0"/>
              <a:t>10/7/2024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62222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212" y="504049"/>
            <a:ext cx="7110161" cy="109210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614DBE-3B32-42C4-9A7D-32D6549469D7}" type="datetime1">
              <a:rPr lang="en-US" smtClean="0"/>
              <a:t>10/7/2024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960974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EA6E8-6033-494C-A4C1-C587DEBA70E0}" type="datetime1">
              <a:rPr lang="en-US" smtClean="0"/>
              <a:t>10/7/2024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5294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212" y="1239123"/>
            <a:ext cx="3188016" cy="1057102"/>
          </a:xfrm>
        </p:spPr>
        <p:txBody>
          <a:bodyPr anchor="b">
            <a:normAutofit/>
          </a:bodyPr>
          <a:lstStyle>
            <a:lvl1pPr>
              <a:defRPr sz="165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7298" y="425766"/>
            <a:ext cx="3733075" cy="456954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60212" y="2296225"/>
            <a:ext cx="3188016" cy="2136956"/>
          </a:xfrm>
        </p:spPr>
        <p:txBody>
          <a:bodyPr>
            <a:normAutofit/>
          </a:bodyPr>
          <a:lstStyle>
            <a:lvl1pPr marL="0" indent="0">
              <a:buNone/>
              <a:defRPr sz="1158"/>
            </a:lvl1pPr>
            <a:lvl2pPr marL="377945" indent="0">
              <a:buNone/>
              <a:defRPr sz="1158"/>
            </a:lvl2pPr>
            <a:lvl3pPr marL="755891" indent="0">
              <a:buNone/>
              <a:defRPr sz="992"/>
            </a:lvl3pPr>
            <a:lvl4pPr marL="1133836" indent="0">
              <a:buNone/>
              <a:defRPr sz="827"/>
            </a:lvl4pPr>
            <a:lvl5pPr marL="1511781" indent="0">
              <a:buNone/>
              <a:defRPr sz="827"/>
            </a:lvl5pPr>
            <a:lvl6pPr marL="1889726" indent="0">
              <a:buNone/>
              <a:defRPr sz="827"/>
            </a:lvl6pPr>
            <a:lvl7pPr marL="2267672" indent="0">
              <a:buNone/>
              <a:defRPr sz="827"/>
            </a:lvl7pPr>
            <a:lvl8pPr marL="2645617" indent="0">
              <a:buNone/>
              <a:defRPr sz="827"/>
            </a:lvl8pPr>
            <a:lvl9pPr marL="3023562" indent="0">
              <a:buNone/>
              <a:defRPr sz="82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6737C-323B-4454-A910-2666B193A3C1}" type="datetime1">
              <a:rPr lang="en-US" smtClean="0"/>
              <a:t>10/7/2024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537858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212" y="3969385"/>
            <a:ext cx="7110160" cy="468608"/>
          </a:xfrm>
        </p:spPr>
        <p:txBody>
          <a:bodyPr anchor="b">
            <a:normAutofit/>
          </a:bodyPr>
          <a:lstStyle>
            <a:lvl1pPr algn="l">
              <a:defRPr sz="1985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0212" y="504049"/>
            <a:ext cx="7110161" cy="3179839"/>
          </a:xfrm>
        </p:spPr>
        <p:txBody>
          <a:bodyPr anchor="t">
            <a:normAutofit/>
          </a:bodyPr>
          <a:lstStyle>
            <a:lvl1pPr marL="0" indent="0" algn="ctr">
              <a:buNone/>
              <a:defRPr sz="1323"/>
            </a:lvl1pPr>
            <a:lvl2pPr marL="378059" indent="0">
              <a:buNone/>
              <a:defRPr sz="1323"/>
            </a:lvl2pPr>
            <a:lvl3pPr marL="756117" indent="0">
              <a:buNone/>
              <a:defRPr sz="1323"/>
            </a:lvl3pPr>
            <a:lvl4pPr marL="1134176" indent="0">
              <a:buNone/>
              <a:defRPr sz="1323"/>
            </a:lvl4pPr>
            <a:lvl5pPr marL="1512235" indent="0">
              <a:buNone/>
              <a:defRPr sz="1323"/>
            </a:lvl5pPr>
            <a:lvl6pPr marL="1890293" indent="0">
              <a:buNone/>
              <a:defRPr sz="1323"/>
            </a:lvl6pPr>
            <a:lvl7pPr marL="2268352" indent="0">
              <a:buNone/>
              <a:defRPr sz="1323"/>
            </a:lvl7pPr>
            <a:lvl8pPr marL="2646411" indent="0">
              <a:buNone/>
              <a:defRPr sz="1323"/>
            </a:lvl8pPr>
            <a:lvl9pPr marL="3024469" indent="0">
              <a:buNone/>
              <a:defRPr sz="132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60212" y="4437993"/>
            <a:ext cx="7110160" cy="557318"/>
          </a:xfrm>
        </p:spPr>
        <p:txBody>
          <a:bodyPr>
            <a:normAutofit/>
          </a:bodyPr>
          <a:lstStyle>
            <a:lvl1pPr marL="0" indent="0">
              <a:buNone/>
              <a:defRPr sz="992"/>
            </a:lvl1pPr>
            <a:lvl2pPr marL="378059" indent="0">
              <a:buNone/>
              <a:defRPr sz="992"/>
            </a:lvl2pPr>
            <a:lvl3pPr marL="756117" indent="0">
              <a:buNone/>
              <a:defRPr sz="827"/>
            </a:lvl3pPr>
            <a:lvl4pPr marL="1134176" indent="0">
              <a:buNone/>
              <a:defRPr sz="744"/>
            </a:lvl4pPr>
            <a:lvl5pPr marL="1512235" indent="0">
              <a:buNone/>
              <a:defRPr sz="744"/>
            </a:lvl5pPr>
            <a:lvl6pPr marL="1890293" indent="0">
              <a:buNone/>
              <a:defRPr sz="744"/>
            </a:lvl6pPr>
            <a:lvl7pPr marL="2268352" indent="0">
              <a:buNone/>
              <a:defRPr sz="744"/>
            </a:lvl7pPr>
            <a:lvl8pPr marL="2646411" indent="0">
              <a:buNone/>
              <a:defRPr sz="744"/>
            </a:lvl8pPr>
            <a:lvl9pPr marL="3024469" indent="0">
              <a:buNone/>
              <a:defRPr sz="74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7D5A7-FA26-4DD7-8A2C-904CC6C9264F}" type="datetime1">
              <a:rPr lang="en-US" smtClean="0"/>
              <a:t>10/7/2024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8152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212" y="504049"/>
            <a:ext cx="7110161" cy="2814273"/>
          </a:xfrm>
        </p:spPr>
        <p:txBody>
          <a:bodyPr anchor="ctr">
            <a:normAutofit/>
          </a:bodyPr>
          <a:lstStyle>
            <a:lvl1pPr algn="l">
              <a:defRPr sz="3638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0212" y="3696358"/>
            <a:ext cx="7110161" cy="1298953"/>
          </a:xfrm>
        </p:spPr>
        <p:txBody>
          <a:bodyPr anchor="ctr">
            <a:normAutofit/>
          </a:bodyPr>
          <a:lstStyle>
            <a:lvl1pPr marL="0" indent="0" algn="l">
              <a:buNone/>
              <a:defRPr sz="148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78059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2pPr>
            <a:lvl3pPr marL="756117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3pPr>
            <a:lvl4pPr marL="1134176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4pPr>
            <a:lvl5pPr marL="1512235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5pPr>
            <a:lvl6pPr marL="1890293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6pPr>
            <a:lvl7pPr marL="2268352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7pPr>
            <a:lvl8pPr marL="2646411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8pPr>
            <a:lvl9pPr marL="3024469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64379-73F4-4B9F-B6DB-BAD974D74531}" type="datetime1">
              <a:rPr lang="en-US" smtClean="0"/>
              <a:t>10/7/2024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415663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0291" y="504049"/>
            <a:ext cx="6694523" cy="2499242"/>
          </a:xfrm>
        </p:spPr>
        <p:txBody>
          <a:bodyPr anchor="ctr">
            <a:normAutofit/>
          </a:bodyPr>
          <a:lstStyle>
            <a:lvl1pPr algn="l">
              <a:defRPr sz="3638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29911" y="3003291"/>
            <a:ext cx="5975283" cy="315031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323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78059" indent="0">
              <a:buFontTx/>
              <a:buNone/>
              <a:defRPr/>
            </a:lvl2pPr>
            <a:lvl3pPr marL="756117" indent="0">
              <a:buFontTx/>
              <a:buNone/>
              <a:defRPr/>
            </a:lvl3pPr>
            <a:lvl4pPr marL="1134176" indent="0">
              <a:buFontTx/>
              <a:buNone/>
              <a:defRPr/>
            </a:lvl4pPr>
            <a:lvl5pPr marL="1512235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0212" y="3696358"/>
            <a:ext cx="7110161" cy="1298953"/>
          </a:xfrm>
        </p:spPr>
        <p:txBody>
          <a:bodyPr anchor="ctr">
            <a:normAutofit/>
          </a:bodyPr>
          <a:lstStyle>
            <a:lvl1pPr marL="0" indent="0" algn="l">
              <a:buNone/>
              <a:defRPr sz="148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78059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2pPr>
            <a:lvl3pPr marL="756117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3pPr>
            <a:lvl4pPr marL="1134176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4pPr>
            <a:lvl5pPr marL="1512235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5pPr>
            <a:lvl6pPr marL="1890293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6pPr>
            <a:lvl7pPr marL="2268352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7pPr>
            <a:lvl8pPr marL="2646411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8pPr>
            <a:lvl9pPr marL="3024469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86109-C2E4-4AA5-9BA6-6F3818586194}" type="datetime1">
              <a:rPr lang="en-US" smtClean="0"/>
              <a:t>10/7/2024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  <p:sp>
        <p:nvSpPr>
          <p:cNvPr id="24" name="TextBox 23"/>
          <p:cNvSpPr txBox="1"/>
          <p:nvPr/>
        </p:nvSpPr>
        <p:spPr>
          <a:xfrm>
            <a:off x="448172" y="653526"/>
            <a:ext cx="504190" cy="483523"/>
          </a:xfrm>
          <a:prstGeom prst="rect">
            <a:avLst/>
          </a:prstGeom>
        </p:spPr>
        <p:txBody>
          <a:bodyPr vert="horz" lIns="75607" tIns="37804" rIns="75607" bIns="37804" rtlCol="0" anchor="ctr">
            <a:noAutofit/>
          </a:bodyPr>
          <a:lstStyle/>
          <a:p>
            <a:pPr lvl="0"/>
            <a:r>
              <a:rPr lang="en-US" sz="6615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5261" y="2386754"/>
            <a:ext cx="504190" cy="483523"/>
          </a:xfrm>
          <a:prstGeom prst="rect">
            <a:avLst/>
          </a:prstGeom>
        </p:spPr>
        <p:txBody>
          <a:bodyPr vert="horz" lIns="75607" tIns="37804" rIns="75607" bIns="37804" rtlCol="0" anchor="ctr">
            <a:noAutofit/>
          </a:bodyPr>
          <a:lstStyle/>
          <a:p>
            <a:pPr lvl="0"/>
            <a:r>
              <a:rPr lang="en-US" sz="6615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045375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212" y="1597468"/>
            <a:ext cx="7110161" cy="2146061"/>
          </a:xfrm>
        </p:spPr>
        <p:txBody>
          <a:bodyPr anchor="b">
            <a:normAutofit/>
          </a:bodyPr>
          <a:lstStyle>
            <a:lvl1pPr algn="l">
              <a:defRPr sz="3638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0212" y="3743529"/>
            <a:ext cx="7110161" cy="1251783"/>
          </a:xfrm>
        </p:spPr>
        <p:txBody>
          <a:bodyPr anchor="t">
            <a:normAutofit/>
          </a:bodyPr>
          <a:lstStyle>
            <a:lvl1pPr marL="0" indent="0" algn="l">
              <a:buNone/>
              <a:defRPr sz="148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78059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2pPr>
            <a:lvl3pPr marL="756117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3pPr>
            <a:lvl4pPr marL="1134176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4pPr>
            <a:lvl5pPr marL="1512235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5pPr>
            <a:lvl6pPr marL="1890293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6pPr>
            <a:lvl7pPr marL="2268352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7pPr>
            <a:lvl8pPr marL="2646411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8pPr>
            <a:lvl9pPr marL="3024469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CBFDB-4AB9-40E3-B35E-3A86B7BBF175}" type="datetime1">
              <a:rPr lang="en-US" smtClean="0"/>
              <a:t>10/7/2024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59414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0291" y="504049"/>
            <a:ext cx="6694523" cy="2499242"/>
          </a:xfrm>
        </p:spPr>
        <p:txBody>
          <a:bodyPr anchor="ctr">
            <a:normAutofit/>
          </a:bodyPr>
          <a:lstStyle>
            <a:lvl1pPr algn="l">
              <a:defRPr sz="3638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60210" y="3318322"/>
            <a:ext cx="7110162" cy="425207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98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78059" indent="0">
              <a:buFontTx/>
              <a:buNone/>
              <a:defRPr/>
            </a:lvl2pPr>
            <a:lvl3pPr marL="756117" indent="0">
              <a:buFontTx/>
              <a:buNone/>
              <a:defRPr/>
            </a:lvl3pPr>
            <a:lvl4pPr marL="1134176" indent="0">
              <a:buFontTx/>
              <a:buNone/>
              <a:defRPr/>
            </a:lvl4pPr>
            <a:lvl5pPr marL="1512235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0212" y="3743529"/>
            <a:ext cx="7110161" cy="1251783"/>
          </a:xfrm>
        </p:spPr>
        <p:txBody>
          <a:bodyPr anchor="t">
            <a:normAutofit/>
          </a:bodyPr>
          <a:lstStyle>
            <a:lvl1pPr marL="0" indent="0" algn="l">
              <a:buNone/>
              <a:defRPr sz="1488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78059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2pPr>
            <a:lvl3pPr marL="756117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3pPr>
            <a:lvl4pPr marL="1134176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4pPr>
            <a:lvl5pPr marL="1512235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5pPr>
            <a:lvl6pPr marL="1890293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6pPr>
            <a:lvl7pPr marL="2268352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7pPr>
            <a:lvl8pPr marL="2646411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8pPr>
            <a:lvl9pPr marL="3024469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2720A-B673-4F01-8C62-15394A4F50D4}" type="datetime1">
              <a:rPr lang="en-US" smtClean="0"/>
              <a:t>10/7/2024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  <p:sp>
        <p:nvSpPr>
          <p:cNvPr id="24" name="TextBox 23"/>
          <p:cNvSpPr txBox="1"/>
          <p:nvPr/>
        </p:nvSpPr>
        <p:spPr>
          <a:xfrm>
            <a:off x="448172" y="653526"/>
            <a:ext cx="504190" cy="483523"/>
          </a:xfrm>
          <a:prstGeom prst="rect">
            <a:avLst/>
          </a:prstGeom>
        </p:spPr>
        <p:txBody>
          <a:bodyPr vert="horz" lIns="75607" tIns="37804" rIns="75607" bIns="37804" rtlCol="0" anchor="ctr">
            <a:noAutofit/>
          </a:bodyPr>
          <a:lstStyle/>
          <a:p>
            <a:pPr lvl="0"/>
            <a:r>
              <a:rPr lang="en-US" sz="6615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5261" y="2386754"/>
            <a:ext cx="504190" cy="483523"/>
          </a:xfrm>
          <a:prstGeom prst="rect">
            <a:avLst/>
          </a:prstGeom>
        </p:spPr>
        <p:txBody>
          <a:bodyPr vert="horz" lIns="75607" tIns="37804" rIns="75607" bIns="37804" rtlCol="0" anchor="ctr">
            <a:noAutofit/>
          </a:bodyPr>
          <a:lstStyle/>
          <a:p>
            <a:pPr lvl="0"/>
            <a:r>
              <a:rPr lang="en-US" sz="6615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163603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7213" y="504049"/>
            <a:ext cx="7103160" cy="2499242"/>
          </a:xfrm>
        </p:spPr>
        <p:txBody>
          <a:bodyPr anchor="ctr">
            <a:normAutofit/>
          </a:bodyPr>
          <a:lstStyle>
            <a:lvl1pPr algn="l">
              <a:defRPr sz="3638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60210" y="3318322"/>
            <a:ext cx="7110162" cy="425207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985">
                <a:solidFill>
                  <a:schemeClr val="accent1"/>
                </a:solidFill>
              </a:defRPr>
            </a:lvl1pPr>
            <a:lvl2pPr marL="378059" indent="0">
              <a:buFontTx/>
              <a:buNone/>
              <a:defRPr/>
            </a:lvl2pPr>
            <a:lvl3pPr marL="756117" indent="0">
              <a:buFontTx/>
              <a:buNone/>
              <a:defRPr/>
            </a:lvl3pPr>
            <a:lvl4pPr marL="1134176" indent="0">
              <a:buFontTx/>
              <a:buNone/>
              <a:defRPr/>
            </a:lvl4pPr>
            <a:lvl5pPr marL="1512235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0212" y="3743529"/>
            <a:ext cx="7110161" cy="1251783"/>
          </a:xfrm>
        </p:spPr>
        <p:txBody>
          <a:bodyPr anchor="t">
            <a:normAutofit/>
          </a:bodyPr>
          <a:lstStyle>
            <a:lvl1pPr marL="0" indent="0" algn="l">
              <a:buNone/>
              <a:defRPr sz="1488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78059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2pPr>
            <a:lvl3pPr marL="756117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3pPr>
            <a:lvl4pPr marL="1134176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4pPr>
            <a:lvl5pPr marL="1512235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5pPr>
            <a:lvl6pPr marL="1890293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6pPr>
            <a:lvl7pPr marL="2268352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7pPr>
            <a:lvl8pPr marL="2646411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8pPr>
            <a:lvl9pPr marL="3024469" indent="0">
              <a:buNone/>
              <a:defRPr sz="115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A88BA-31A0-4281-B020-7467A2EE55A2}" type="datetime1">
              <a:rPr lang="en-US" smtClean="0"/>
              <a:t>10/7/2024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446707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E6FA2-D266-478B-9183-AA6AF2952AE9}" type="datetime1">
              <a:rPr lang="en-US" smtClean="0"/>
              <a:t>10/7/2024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50735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89930" y="504048"/>
            <a:ext cx="1079131" cy="4342172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60213" y="504049"/>
            <a:ext cx="5839332" cy="434217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54608-0581-4C0A-89AF-0AF0E4C4FCD4}" type="datetime1">
              <a:rPr lang="en-US" smtClean="0"/>
              <a:t>10/7/2024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33464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7001"/>
            <a:ext cx="10083800" cy="5677551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60212" y="504049"/>
            <a:ext cx="7110161" cy="10921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0212" y="1786488"/>
            <a:ext cx="7110161" cy="32088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59246" y="4995312"/>
            <a:ext cx="754250" cy="301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CCE875-D5D3-4316-BD99-14E07E157ED4}" type="datetime1">
              <a:rPr lang="en-US" smtClean="0"/>
              <a:t>10/7/2024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0212" y="4995312"/>
            <a:ext cx="5208650" cy="301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12700">
              <a:lnSpc>
                <a:spcPts val="1630"/>
              </a:lnSpc>
            </a:pPr>
            <a:r>
              <a:rPr lang="es-ES" spc="-5"/>
              <a:t>ALARM </a:t>
            </a:r>
            <a:r>
              <a:rPr lang="es-ES" spc="-10"/>
              <a:t>WP4 </a:t>
            </a:r>
            <a:r>
              <a:rPr lang="es-ES" spc="-5"/>
              <a:t>UC3M</a:t>
            </a:r>
            <a:r>
              <a:rPr lang="es-ES" spc="-95"/>
              <a:t> </a:t>
            </a:r>
            <a:r>
              <a:rPr lang="es-ES" spc="-25"/>
              <a:t>Team</a:t>
            </a:r>
            <a:endParaRPr lang="es-ES" spc="-25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5195" y="4995312"/>
            <a:ext cx="565178" cy="301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44">
                <a:solidFill>
                  <a:schemeClr val="accent1"/>
                </a:solidFill>
              </a:defRPr>
            </a:lvl1pPr>
          </a:lstStyle>
          <a:p>
            <a:fld id="{B6F15528-21DE-4FAA-801E-634DDDAF4B2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2885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99" r:id="rId1"/>
    <p:sldLayoutId id="2147484400" r:id="rId2"/>
    <p:sldLayoutId id="2147484401" r:id="rId3"/>
    <p:sldLayoutId id="2147484402" r:id="rId4"/>
    <p:sldLayoutId id="2147484403" r:id="rId5"/>
    <p:sldLayoutId id="2147484404" r:id="rId6"/>
    <p:sldLayoutId id="2147484405" r:id="rId7"/>
    <p:sldLayoutId id="2147484406" r:id="rId8"/>
    <p:sldLayoutId id="2147484407" r:id="rId9"/>
    <p:sldLayoutId id="2147484408" r:id="rId10"/>
    <p:sldLayoutId id="2147484409" r:id="rId11"/>
    <p:sldLayoutId id="2147484410" r:id="rId12"/>
    <p:sldLayoutId id="2147484411" r:id="rId13"/>
    <p:sldLayoutId id="2147484412" r:id="rId14"/>
    <p:sldLayoutId id="2147484413" r:id="rId15"/>
    <p:sldLayoutId id="2147484414" r:id="rId16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378059" rtl="0" eaLnBrk="1" latinLnBrk="0" hangingPunct="1">
        <a:spcBef>
          <a:spcPct val="0"/>
        </a:spcBef>
        <a:buNone/>
        <a:defRPr sz="2977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3544" indent="-283544" algn="l" defTabSz="378059" rtl="0" eaLnBrk="1" latinLnBrk="0" hangingPunct="1">
        <a:spcBef>
          <a:spcPts val="827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88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14345" indent="-236287" algn="l" defTabSz="378059" rtl="0" eaLnBrk="1" latinLnBrk="0" hangingPunct="1">
        <a:spcBef>
          <a:spcPts val="827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23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45147" indent="-189029" algn="l" defTabSz="378059" rtl="0" eaLnBrk="1" latinLnBrk="0" hangingPunct="1">
        <a:spcBef>
          <a:spcPts val="827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158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323205" indent="-189029" algn="l" defTabSz="378059" rtl="0" eaLnBrk="1" latinLnBrk="0" hangingPunct="1">
        <a:spcBef>
          <a:spcPts val="827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92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701264" indent="-189029" algn="l" defTabSz="378059" rtl="0" eaLnBrk="1" latinLnBrk="0" hangingPunct="1">
        <a:spcBef>
          <a:spcPts val="827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92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079323" indent="-189029" algn="l" defTabSz="378059" rtl="0" eaLnBrk="1" latinLnBrk="0" hangingPunct="1">
        <a:spcBef>
          <a:spcPts val="827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92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457381" indent="-189029" algn="l" defTabSz="378059" rtl="0" eaLnBrk="1" latinLnBrk="0" hangingPunct="1">
        <a:spcBef>
          <a:spcPts val="827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92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835440" indent="-189029" algn="l" defTabSz="378059" rtl="0" eaLnBrk="1" latinLnBrk="0" hangingPunct="1">
        <a:spcBef>
          <a:spcPts val="827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92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213499" indent="-189029" algn="l" defTabSz="378059" rtl="0" eaLnBrk="1" latinLnBrk="0" hangingPunct="1">
        <a:spcBef>
          <a:spcPts val="827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92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8059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8059" algn="l" defTabSz="378059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6117" algn="l" defTabSz="378059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4176" algn="l" defTabSz="378059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2235" algn="l" defTabSz="378059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90293" algn="l" defTabSz="378059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8352" algn="l" defTabSz="378059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6411" algn="l" defTabSz="378059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4469" algn="l" defTabSz="378059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69898" y="1822425"/>
            <a:ext cx="9144000" cy="1222559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 MACHINE LEARNING APPROACH TO IMPROVE THE PREDICTION OF AIRCRAFT TURNAROUND TIME</a:t>
            </a:r>
            <a:endParaRPr lang="en-US" sz="4000" spc="-50" dirty="0">
              <a:solidFill>
                <a:schemeClr val="tx1"/>
              </a:solidFill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02844" y="3651520"/>
            <a:ext cx="4678108" cy="16063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25000"/>
            </a:pPr>
            <a:r>
              <a:rPr lang="en-US" spc="-5" dirty="0"/>
              <a:t>            </a:t>
            </a:r>
            <a:r>
              <a:rPr lang="en-US" sz="2000" spc="-5" dirty="0"/>
              <a:t>Álvaro Reviriego Moreno</a:t>
            </a:r>
          </a:p>
          <a:p>
            <a:pPr algn="just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25000"/>
            </a:pPr>
            <a:r>
              <a:rPr lang="en-US" sz="2000" spc="-5" dirty="0"/>
              <a:t>Tutor: Rubén Rodríguez </a:t>
            </a:r>
            <a:r>
              <a:rPr lang="en-US" sz="2000" spc="-5" dirty="0" err="1"/>
              <a:t>Rodríguez</a:t>
            </a:r>
            <a:endParaRPr lang="en-US" sz="2000" spc="-5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E92E10-B28E-6D2E-A912-59C8FD3484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791" y="471649"/>
            <a:ext cx="7832213" cy="782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6CCF19-8CCB-700A-A5C3-C0CD10C0A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093673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5100" y="324895"/>
            <a:ext cx="70866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MOTIVATION OF THE RESEARCH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375079-EFCE-4718-9D61-45C70A5EE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747204"/>
            <a:ext cx="8751404" cy="1900259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endParaRPr lang="es-E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000" b="0" i="0" dirty="0"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D08624F-3207-9BBC-4590-932CC2620F3F}"/>
                  </a:ext>
                </a:extLst>
              </p14:cNvPr>
              <p14:cNvContentPartPr/>
              <p14:nvPr/>
            </p14:nvContentPartPr>
            <p14:xfrm>
              <a:off x="1856970" y="2342835"/>
              <a:ext cx="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D08624F-3207-9BBC-4590-932CC2620F3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47970" y="2333835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33470949-63D7-9F88-548D-ABC41B643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AA835C-93D2-DD77-263B-E83C0CF7747D}"/>
              </a:ext>
            </a:extLst>
          </p:cNvPr>
          <p:cNvSpPr txBox="1"/>
          <p:nvPr/>
        </p:nvSpPr>
        <p:spPr>
          <a:xfrm>
            <a:off x="382839" y="1623739"/>
            <a:ext cx="8686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/>
              <a:t>Efficient</a:t>
            </a:r>
            <a:r>
              <a:rPr lang="es-ES" dirty="0"/>
              <a:t> </a:t>
            </a:r>
            <a:r>
              <a:rPr lang="es-ES" dirty="0" err="1"/>
              <a:t>management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airport</a:t>
            </a:r>
            <a:r>
              <a:rPr lang="es-ES" dirty="0"/>
              <a:t> </a:t>
            </a:r>
            <a:r>
              <a:rPr lang="es-ES" dirty="0" err="1"/>
              <a:t>operations</a:t>
            </a:r>
            <a:r>
              <a:rPr lang="es-ES" dirty="0"/>
              <a:t> has </a:t>
            </a:r>
            <a:r>
              <a:rPr lang="es-ES" dirty="0" err="1"/>
              <a:t>become</a:t>
            </a:r>
            <a:r>
              <a:rPr lang="es-ES" dirty="0"/>
              <a:t> </a:t>
            </a:r>
            <a:r>
              <a:rPr lang="es-ES" dirty="0" err="1"/>
              <a:t>one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the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factors</a:t>
            </a:r>
            <a:r>
              <a:rPr lang="es-ES" dirty="0"/>
              <a:t> </a:t>
            </a:r>
            <a:r>
              <a:rPr lang="es-ES" dirty="0" err="1"/>
              <a:t>determining</a:t>
            </a:r>
            <a:r>
              <a:rPr lang="es-ES" dirty="0"/>
              <a:t> the </a:t>
            </a:r>
            <a:r>
              <a:rPr lang="es-ES" dirty="0" err="1"/>
              <a:t>success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commercial</a:t>
            </a:r>
            <a:r>
              <a:rPr lang="es-ES" dirty="0"/>
              <a:t> </a:t>
            </a:r>
            <a:r>
              <a:rPr lang="es-ES" dirty="0" err="1"/>
              <a:t>aviation</a:t>
            </a: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Safety and </a:t>
            </a:r>
            <a:r>
              <a:rPr lang="es-ES" dirty="0" err="1"/>
              <a:t>satisfaction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passengers</a:t>
            </a:r>
            <a:r>
              <a:rPr lang="es-ES" dirty="0"/>
              <a:t> </a:t>
            </a:r>
            <a:r>
              <a:rPr lang="es-ES" dirty="0">
                <a:sym typeface="Wingdings" panose="05000000000000000000" pitchFamily="2" charset="2"/>
              </a:rPr>
              <a:t> </a:t>
            </a:r>
            <a:r>
              <a:rPr lang="es-ES" dirty="0" err="1">
                <a:sym typeface="Wingdings" panose="05000000000000000000" pitchFamily="2" charset="2"/>
              </a:rPr>
              <a:t>Benefitial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for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passengers</a:t>
            </a:r>
            <a:r>
              <a:rPr lang="es-ES" dirty="0">
                <a:sym typeface="Wingdings" panose="05000000000000000000" pitchFamily="2" charset="2"/>
              </a:rPr>
              <a:t> and </a:t>
            </a:r>
            <a:r>
              <a:rPr lang="es-ES" dirty="0" err="1">
                <a:sym typeface="Wingdings" panose="05000000000000000000" pitchFamily="2" charset="2"/>
              </a:rPr>
              <a:t>also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for</a:t>
            </a:r>
            <a:r>
              <a:rPr lang="es-ES" dirty="0">
                <a:sym typeface="Wingdings" panose="05000000000000000000" pitchFamily="2" charset="2"/>
              </a:rPr>
              <a:t> Airlines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>
                <a:sym typeface="Wingdings" panose="05000000000000000000" pitchFamily="2" charset="2"/>
              </a:rPr>
              <a:t>Development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of</a:t>
            </a:r>
            <a:r>
              <a:rPr lang="es-ES" dirty="0">
                <a:sym typeface="Wingdings" panose="05000000000000000000" pitchFamily="2" charset="2"/>
              </a:rPr>
              <a:t> the </a:t>
            </a:r>
            <a:r>
              <a:rPr lang="es-ES" dirty="0" err="1">
                <a:sym typeface="Wingdings" panose="05000000000000000000" pitchFamily="2" charset="2"/>
              </a:rPr>
              <a:t>aviation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world</a:t>
            </a:r>
            <a:r>
              <a:rPr lang="es-ES" dirty="0">
                <a:sym typeface="Wingdings" panose="05000000000000000000" pitchFamily="2" charset="2"/>
              </a:rPr>
              <a:t> leads </a:t>
            </a:r>
            <a:r>
              <a:rPr lang="es-ES" dirty="0" err="1">
                <a:sym typeface="Wingdings" panose="05000000000000000000" pitchFamily="2" charset="2"/>
              </a:rPr>
              <a:t>to</a:t>
            </a:r>
            <a:r>
              <a:rPr lang="es-ES" dirty="0">
                <a:sym typeface="Wingdings" panose="05000000000000000000" pitchFamily="2" charset="2"/>
              </a:rPr>
              <a:t> the use </a:t>
            </a:r>
            <a:r>
              <a:rPr lang="es-ES" dirty="0" err="1">
                <a:sym typeface="Wingdings" panose="05000000000000000000" pitchFamily="2" charset="2"/>
              </a:rPr>
              <a:t>of</a:t>
            </a:r>
            <a:r>
              <a:rPr lang="es-ES" dirty="0">
                <a:sym typeface="Wingdings" panose="05000000000000000000" pitchFamily="2" charset="2"/>
              </a:rPr>
              <a:t> new </a:t>
            </a:r>
            <a:r>
              <a:rPr lang="es-ES" dirty="0" err="1">
                <a:sym typeface="Wingdings" panose="05000000000000000000" pitchFamily="2" charset="2"/>
              </a:rPr>
              <a:t>technologies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such</a:t>
            </a:r>
            <a:r>
              <a:rPr lang="es-ES" dirty="0">
                <a:sym typeface="Wingdings" panose="05000000000000000000" pitchFamily="2" charset="2"/>
              </a:rPr>
              <a:t> as artificial </a:t>
            </a:r>
            <a:r>
              <a:rPr lang="es-ES" dirty="0" err="1">
                <a:sym typeface="Wingdings" panose="05000000000000000000" pitchFamily="2" charset="2"/>
              </a:rPr>
              <a:t>intelligence</a:t>
            </a:r>
            <a:r>
              <a:rPr lang="es-ES" dirty="0">
                <a:sym typeface="Wingdings" panose="05000000000000000000" pitchFamily="2" charset="2"/>
              </a:rPr>
              <a:t> (AI)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08221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5100" y="320675"/>
            <a:ext cx="70866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85CD3F-EA91-FE78-7B70-4C989DA4829F}"/>
              </a:ext>
            </a:extLst>
          </p:cNvPr>
          <p:cNvSpPr txBox="1"/>
          <p:nvPr/>
        </p:nvSpPr>
        <p:spPr>
          <a:xfrm>
            <a:off x="850900" y="752475"/>
            <a:ext cx="9067801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/>
              <a:t> </a:t>
            </a:r>
          </a:p>
          <a:p>
            <a:r>
              <a:rPr lang="es-ES" sz="2000" dirty="0"/>
              <a:t>1. STATE OF THE ART </a:t>
            </a: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2. PROBLEM STATEMENT</a:t>
            </a: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3. METHODOLOGY </a:t>
            </a: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	Machine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Learning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	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Dataset</a:t>
            </a:r>
            <a:endParaRPr lang="es-ES" sz="20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	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Features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selection</a:t>
            </a:r>
            <a:endParaRPr lang="es-ES" sz="20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	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Outliers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filtering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	</a:t>
            </a: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	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Evaluation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metrics</a:t>
            </a:r>
            <a:endParaRPr lang="es-ES" sz="20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	Model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Selection</a:t>
            </a:r>
            <a:endParaRPr lang="es-ES" sz="20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4. RESULTS </a:t>
            </a: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	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Different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models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on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a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given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airport</a:t>
            </a:r>
            <a:endParaRPr lang="es-ES" sz="20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	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Selected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model at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different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airports</a:t>
            </a:r>
            <a:endParaRPr lang="es-ES" sz="20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	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Operational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s-ES" sz="2000" dirty="0" err="1">
                <a:solidFill>
                  <a:schemeClr val="bg2">
                    <a:lumMod val="75000"/>
                  </a:schemeClr>
                </a:solidFill>
              </a:rPr>
              <a:t>solution</a:t>
            </a:r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es-ES" sz="2000" dirty="0">
                <a:solidFill>
                  <a:schemeClr val="bg2">
                    <a:lumMod val="75000"/>
                  </a:schemeClr>
                </a:solidFill>
              </a:rPr>
              <a:t>5. CONCLUSIONS AND FUTURE WORK </a:t>
            </a:r>
            <a:r>
              <a:rPr lang="es-ES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es-ES" dirty="0"/>
              <a:t>	</a:t>
            </a:r>
          </a:p>
          <a:p>
            <a:r>
              <a:rPr lang="es-ES" dirty="0"/>
              <a:t>	</a:t>
            </a:r>
          </a:p>
          <a:p>
            <a:r>
              <a:rPr lang="es-ES" dirty="0"/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E963A-0334-9FAF-2717-C86028CE2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215900" y="320675"/>
            <a:ext cx="84582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STATE OF THE ART: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1F8B4-C49D-A1F5-62D2-AA67FB055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63783" y="4904598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>
                <a:solidFill>
                  <a:schemeClr val="bg1"/>
                </a:solidFill>
              </a:rPr>
              <a:t>4</a:t>
            </a:fld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EB2C6-066B-09A4-F609-8C108FEBF883}"/>
              </a:ext>
            </a:extLst>
          </p:cNvPr>
          <p:cNvSpPr txBox="1"/>
          <p:nvPr/>
        </p:nvSpPr>
        <p:spPr>
          <a:xfrm>
            <a:off x="622300" y="854075"/>
            <a:ext cx="8686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Turnaround</a:t>
            </a:r>
            <a:r>
              <a:rPr lang="es-ES" dirty="0"/>
              <a:t> Time (TAT): time that </a:t>
            </a:r>
            <a:r>
              <a:rPr lang="es-ES" dirty="0" err="1"/>
              <a:t>ellapses</a:t>
            </a:r>
            <a:r>
              <a:rPr lang="es-ES" dirty="0"/>
              <a:t> </a:t>
            </a:r>
            <a:r>
              <a:rPr lang="es-ES" dirty="0" err="1"/>
              <a:t>from</a:t>
            </a:r>
            <a:r>
              <a:rPr lang="es-ES" dirty="0"/>
              <a:t> the </a:t>
            </a:r>
            <a:r>
              <a:rPr lang="es-ES" dirty="0" err="1"/>
              <a:t>moment</a:t>
            </a:r>
            <a:r>
              <a:rPr lang="es-ES" dirty="0"/>
              <a:t> in </a:t>
            </a:r>
            <a:r>
              <a:rPr lang="es-ES" dirty="0" err="1"/>
              <a:t>which</a:t>
            </a:r>
            <a:r>
              <a:rPr lang="es-ES" dirty="0"/>
              <a:t> </a:t>
            </a:r>
            <a:r>
              <a:rPr lang="es-ES" dirty="0" err="1"/>
              <a:t>an</a:t>
            </a:r>
            <a:r>
              <a:rPr lang="es-ES" dirty="0"/>
              <a:t> </a:t>
            </a:r>
            <a:r>
              <a:rPr lang="es-ES" dirty="0" err="1"/>
              <a:t>aircraft</a:t>
            </a:r>
            <a:r>
              <a:rPr lang="es-ES" dirty="0"/>
              <a:t> </a:t>
            </a:r>
            <a:r>
              <a:rPr lang="es-ES" dirty="0" err="1"/>
              <a:t>enters</a:t>
            </a:r>
            <a:r>
              <a:rPr lang="es-ES" dirty="0"/>
              <a:t> the parking </a:t>
            </a:r>
            <a:r>
              <a:rPr lang="es-ES" dirty="0" err="1"/>
              <a:t>lot</a:t>
            </a:r>
            <a:r>
              <a:rPr lang="es-ES" dirty="0"/>
              <a:t> </a:t>
            </a:r>
            <a:r>
              <a:rPr lang="es-ES" dirty="0" err="1"/>
              <a:t>until</a:t>
            </a:r>
            <a:r>
              <a:rPr lang="es-ES" dirty="0"/>
              <a:t> </a:t>
            </a:r>
            <a:r>
              <a:rPr lang="es-ES" dirty="0" err="1"/>
              <a:t>it</a:t>
            </a:r>
            <a:r>
              <a:rPr lang="es-ES" dirty="0"/>
              <a:t> </a:t>
            </a:r>
            <a:r>
              <a:rPr lang="es-ES" dirty="0" err="1"/>
              <a:t>leaves</a:t>
            </a:r>
            <a:r>
              <a:rPr lang="es-ES" dirty="0"/>
              <a:t> </a:t>
            </a:r>
            <a:r>
              <a:rPr lang="es-ES" dirty="0" err="1"/>
              <a:t>it</a:t>
            </a:r>
            <a:r>
              <a:rPr lang="es-ES" dirty="0"/>
              <a:t>. </a:t>
            </a:r>
          </a:p>
          <a:p>
            <a:endParaRPr lang="es-ES" dirty="0"/>
          </a:p>
          <a:p>
            <a:endParaRPr lang="es-ES" dirty="0"/>
          </a:p>
          <a:p>
            <a:r>
              <a:rPr lang="es-ES" dirty="0" err="1"/>
              <a:t>Ground</a:t>
            </a:r>
            <a:r>
              <a:rPr lang="es-ES" dirty="0"/>
              <a:t> </a:t>
            </a:r>
            <a:r>
              <a:rPr lang="es-ES" dirty="0" err="1"/>
              <a:t>handling</a:t>
            </a:r>
            <a:r>
              <a:rPr lang="es-ES" dirty="0"/>
              <a:t> </a:t>
            </a:r>
            <a:r>
              <a:rPr lang="es-ES" dirty="0" err="1"/>
              <a:t>tasks</a:t>
            </a:r>
            <a:r>
              <a:rPr lang="es-ES" dirty="0"/>
              <a:t>: </a:t>
            </a:r>
            <a:r>
              <a:rPr lang="es-ES" dirty="0" err="1"/>
              <a:t>disembarking</a:t>
            </a:r>
            <a:r>
              <a:rPr lang="es-ES" dirty="0"/>
              <a:t>, </a:t>
            </a:r>
            <a:r>
              <a:rPr lang="es-ES" dirty="0" err="1"/>
              <a:t>cleaning</a:t>
            </a:r>
            <a:r>
              <a:rPr lang="es-ES" dirty="0"/>
              <a:t>, </a:t>
            </a:r>
            <a:r>
              <a:rPr lang="es-ES" dirty="0" err="1"/>
              <a:t>possible</a:t>
            </a:r>
            <a:r>
              <a:rPr lang="es-ES" dirty="0"/>
              <a:t> </a:t>
            </a:r>
            <a:r>
              <a:rPr lang="es-ES" dirty="0" err="1"/>
              <a:t>maintenance</a:t>
            </a:r>
            <a:r>
              <a:rPr lang="es-ES" dirty="0"/>
              <a:t> </a:t>
            </a:r>
            <a:r>
              <a:rPr lang="es-ES" dirty="0" err="1"/>
              <a:t>inspections</a:t>
            </a:r>
            <a:r>
              <a:rPr lang="es-ES" dirty="0"/>
              <a:t>, </a:t>
            </a:r>
            <a:r>
              <a:rPr lang="es-ES" dirty="0" err="1"/>
              <a:t>refuelling</a:t>
            </a:r>
            <a:r>
              <a:rPr lang="es-ES" dirty="0"/>
              <a:t>, catering, </a:t>
            </a:r>
            <a:r>
              <a:rPr lang="es-ES" dirty="0" err="1"/>
              <a:t>loading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luggages,passenger</a:t>
            </a:r>
            <a:r>
              <a:rPr lang="es-ES" dirty="0"/>
              <a:t> </a:t>
            </a:r>
            <a:r>
              <a:rPr lang="es-ES" dirty="0" err="1"/>
              <a:t>boardings,etc</a:t>
            </a:r>
            <a:r>
              <a:rPr lang="es-ES" dirty="0"/>
              <a:t>.  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F523B8B-0EFF-41A3-0C25-041383993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7582" y="2567590"/>
            <a:ext cx="5176117" cy="2973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7904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215900" y="320675"/>
            <a:ext cx="84582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STATE OF THE ART: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1F8B4-C49D-A1F5-62D2-AA67FB055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63783" y="4904598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>
                <a:solidFill>
                  <a:schemeClr val="bg1"/>
                </a:solidFill>
              </a:rPr>
              <a:t>5</a:t>
            </a:fld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7735F5-516C-1E49-0269-9E173A134536}"/>
              </a:ext>
            </a:extLst>
          </p:cNvPr>
          <p:cNvSpPr txBox="1"/>
          <p:nvPr/>
        </p:nvSpPr>
        <p:spPr>
          <a:xfrm>
            <a:off x="546100" y="1006475"/>
            <a:ext cx="80010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Factors</a:t>
            </a:r>
            <a:r>
              <a:rPr lang="es-ES" dirty="0"/>
              <a:t> </a:t>
            </a:r>
            <a:r>
              <a:rPr lang="es-ES" dirty="0" err="1"/>
              <a:t>affecting</a:t>
            </a:r>
            <a:r>
              <a:rPr lang="es-ES" dirty="0"/>
              <a:t> </a:t>
            </a:r>
            <a:r>
              <a:rPr lang="es-ES" dirty="0" err="1"/>
              <a:t>turnaround</a:t>
            </a:r>
            <a:r>
              <a:rPr lang="es-ES" dirty="0"/>
              <a:t>:</a:t>
            </a:r>
          </a:p>
          <a:p>
            <a:endParaRPr lang="es-E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s-ES" dirty="0"/>
              <a:t>Flight-</a:t>
            </a:r>
            <a:r>
              <a:rPr lang="es-ES" dirty="0" err="1"/>
              <a:t>based</a:t>
            </a:r>
            <a:r>
              <a:rPr lang="es-ES" dirty="0"/>
              <a:t> </a:t>
            </a:r>
            <a:r>
              <a:rPr lang="es-ES" dirty="0" err="1"/>
              <a:t>factors</a:t>
            </a:r>
            <a:r>
              <a:rPr lang="es-ES" dirty="0"/>
              <a:t> </a:t>
            </a:r>
            <a:r>
              <a:rPr lang="es-ES" dirty="0" err="1"/>
              <a:t>affecting</a:t>
            </a:r>
            <a:r>
              <a:rPr lang="es-ES" dirty="0"/>
              <a:t> </a:t>
            </a:r>
            <a:r>
              <a:rPr lang="es-ES" dirty="0" err="1"/>
              <a:t>turnaround</a:t>
            </a:r>
            <a:r>
              <a:rPr lang="es-ES" dirty="0"/>
              <a:t>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b="1" dirty="0" err="1"/>
              <a:t>Number</a:t>
            </a:r>
            <a:r>
              <a:rPr lang="es-ES" b="1" dirty="0"/>
              <a:t> </a:t>
            </a:r>
            <a:r>
              <a:rPr lang="es-ES" b="1" dirty="0" err="1"/>
              <a:t>of</a:t>
            </a:r>
            <a:r>
              <a:rPr lang="es-ES" b="1" dirty="0"/>
              <a:t> </a:t>
            </a:r>
            <a:r>
              <a:rPr lang="es-ES" b="1" dirty="0" err="1"/>
              <a:t>passengers</a:t>
            </a:r>
            <a:r>
              <a:rPr lang="es-ES" b="1" dirty="0"/>
              <a:t> and </a:t>
            </a:r>
            <a:r>
              <a:rPr lang="es-ES" b="1" dirty="0" err="1"/>
              <a:t>their</a:t>
            </a:r>
            <a:r>
              <a:rPr lang="es-ES" b="1" dirty="0"/>
              <a:t> </a:t>
            </a:r>
            <a:r>
              <a:rPr lang="es-ES" b="1" dirty="0" err="1"/>
              <a:t>checked</a:t>
            </a:r>
            <a:r>
              <a:rPr lang="es-ES" b="1" dirty="0"/>
              <a:t> </a:t>
            </a:r>
            <a:r>
              <a:rPr lang="es-ES" b="1" dirty="0" err="1"/>
              <a:t>baggage</a:t>
            </a:r>
            <a:endParaRPr lang="es-ES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dirty="0" err="1"/>
              <a:t>Aircraft</a:t>
            </a:r>
            <a:r>
              <a:rPr lang="es-ES" dirty="0"/>
              <a:t> load factor (</a:t>
            </a:r>
            <a:r>
              <a:rPr lang="es-ES" dirty="0" err="1"/>
              <a:t>seat</a:t>
            </a:r>
            <a:r>
              <a:rPr lang="es-ES" dirty="0"/>
              <a:t> </a:t>
            </a:r>
            <a:r>
              <a:rPr lang="es-ES" dirty="0" err="1"/>
              <a:t>occupancy</a:t>
            </a:r>
            <a:r>
              <a:rPr lang="es-ES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dirty="0" err="1"/>
              <a:t>Aircraft</a:t>
            </a:r>
            <a:r>
              <a:rPr lang="es-ES" dirty="0"/>
              <a:t> </a:t>
            </a:r>
            <a:r>
              <a:rPr lang="es-ES" dirty="0" err="1"/>
              <a:t>type</a:t>
            </a:r>
            <a:r>
              <a:rPr lang="es-ES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dirty="0" err="1"/>
              <a:t>Boarding</a:t>
            </a:r>
            <a:r>
              <a:rPr lang="es-ES" dirty="0"/>
              <a:t> </a:t>
            </a:r>
            <a:r>
              <a:rPr lang="es-ES" dirty="0" err="1"/>
              <a:t>strategy</a:t>
            </a:r>
            <a:endParaRPr lang="es-E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dirty="0" err="1"/>
              <a:t>Arrival</a:t>
            </a:r>
            <a:r>
              <a:rPr lang="es-ES" dirty="0"/>
              <a:t> </a:t>
            </a:r>
            <a:r>
              <a:rPr lang="es-ES" dirty="0" err="1"/>
              <a:t>rate</a:t>
            </a:r>
            <a:r>
              <a:rPr lang="es-ES" b="1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s-ES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s-ES" dirty="0"/>
              <a:t>Flight-</a:t>
            </a:r>
            <a:r>
              <a:rPr lang="es-ES" dirty="0" err="1"/>
              <a:t>based</a:t>
            </a:r>
            <a:r>
              <a:rPr lang="es-ES" dirty="0"/>
              <a:t> </a:t>
            </a:r>
            <a:r>
              <a:rPr lang="es-ES" dirty="0" err="1"/>
              <a:t>factors</a:t>
            </a:r>
            <a:r>
              <a:rPr lang="es-ES" dirty="0"/>
              <a:t> </a:t>
            </a:r>
            <a:r>
              <a:rPr lang="es-ES" dirty="0" err="1"/>
              <a:t>affecting</a:t>
            </a:r>
            <a:r>
              <a:rPr lang="es-ES" dirty="0"/>
              <a:t> </a:t>
            </a:r>
            <a:r>
              <a:rPr lang="es-ES" dirty="0" err="1"/>
              <a:t>turnaround</a:t>
            </a:r>
            <a:r>
              <a:rPr lang="es-E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b="1" dirty="0" err="1"/>
              <a:t>Airport’s</a:t>
            </a:r>
            <a:r>
              <a:rPr lang="es-ES" b="1" dirty="0"/>
              <a:t> </a:t>
            </a:r>
            <a:r>
              <a:rPr lang="es-ES" b="1" dirty="0" err="1"/>
              <a:t>operational</a:t>
            </a:r>
            <a:r>
              <a:rPr lang="es-ES" b="1" dirty="0"/>
              <a:t> </a:t>
            </a:r>
            <a:r>
              <a:rPr lang="es-ES" b="1" dirty="0" err="1"/>
              <a:t>capacity</a:t>
            </a:r>
            <a:r>
              <a:rPr lang="es-ES" b="1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 err="1"/>
              <a:t>Propagation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delays</a:t>
            </a:r>
            <a:r>
              <a:rPr lang="es-E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 err="1"/>
              <a:t>Weather</a:t>
            </a:r>
            <a:r>
              <a:rPr lang="es-ES" dirty="0"/>
              <a:t> </a:t>
            </a:r>
            <a:r>
              <a:rPr lang="es-ES" dirty="0" err="1"/>
              <a:t>conditions</a:t>
            </a:r>
            <a:endParaRPr lang="es-ES" dirty="0"/>
          </a:p>
          <a:p>
            <a:endParaRPr lang="es-E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9503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5100" y="320675"/>
            <a:ext cx="70866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85CD3F-EA91-FE78-7B70-4C989DA4829F}"/>
              </a:ext>
            </a:extLst>
          </p:cNvPr>
          <p:cNvSpPr txBox="1"/>
          <p:nvPr/>
        </p:nvSpPr>
        <p:spPr>
          <a:xfrm>
            <a:off x="850900" y="752475"/>
            <a:ext cx="9067801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1. STATE OF THE ART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2. PROBLEM STATEMENT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3. METHODOLOGY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Machine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Learning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Dataset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Features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selection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Outliers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filtering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Evaluation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metrics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Model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Selection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4. RESULTS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Different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models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a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given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airport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Selected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model at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different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airports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Operational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solution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5. CONCLUSIONS AND FUTURE WORK 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E963A-0334-9FAF-2717-C86028CE2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s-ES" sz="744" b="0" i="0" u="none" strike="noStrike" kern="1200" cap="none" spc="0" normalizeH="0" baseline="0" noProof="0" smtClean="0">
                <a:ln>
                  <a:noFill/>
                </a:ln>
                <a:solidFill>
                  <a:srgbClr val="5FCBEF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s-ES" sz="744" b="0" i="0" u="none" strike="noStrike" kern="1200" cap="none" spc="0" normalizeH="0" baseline="0" noProof="0">
              <a:ln>
                <a:noFill/>
              </a:ln>
              <a:solidFill>
                <a:srgbClr val="5FCBEF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64079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215900" y="320675"/>
            <a:ext cx="3810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PROBLEM STATEMENT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1F8B4-C49D-A1F5-62D2-AA67FB055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05625" y="5221746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 dirty="0"/>
          </a:p>
        </p:txBody>
      </p:sp>
      <p:pic>
        <p:nvPicPr>
          <p:cNvPr id="4" name="Picture 3" descr="A diagram of a flowchart&#10;&#10;Description automatically generated">
            <a:extLst>
              <a:ext uri="{FF2B5EF4-FFF2-40B4-BE49-F238E27FC236}">
                <a16:creationId xmlns:a16="http://schemas.microsoft.com/office/drawing/2014/main" id="{200A9F2B-ABA5-F9CF-3A95-A768C62A8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58" t="34062" r="15938" b="34031"/>
          <a:stretch/>
        </p:blipFill>
        <p:spPr>
          <a:xfrm>
            <a:off x="1155700" y="3585472"/>
            <a:ext cx="7301723" cy="19471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7C5431-3149-B4C7-F782-870B0FBBB39F}"/>
              </a:ext>
            </a:extLst>
          </p:cNvPr>
          <p:cNvSpPr txBox="1"/>
          <p:nvPr/>
        </p:nvSpPr>
        <p:spPr>
          <a:xfrm>
            <a:off x="622300" y="930275"/>
            <a:ext cx="8610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Development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machine </a:t>
            </a:r>
            <a:r>
              <a:rPr lang="es-ES" dirty="0" err="1"/>
              <a:t>learning</a:t>
            </a:r>
            <a:r>
              <a:rPr lang="es-ES" dirty="0"/>
              <a:t> </a:t>
            </a:r>
            <a:r>
              <a:rPr lang="es-ES" dirty="0" err="1"/>
              <a:t>models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predict</a:t>
            </a:r>
            <a:r>
              <a:rPr lang="es-ES" dirty="0"/>
              <a:t> </a:t>
            </a:r>
            <a:r>
              <a:rPr lang="es-ES" dirty="0" err="1"/>
              <a:t>turnaround</a:t>
            </a:r>
            <a:r>
              <a:rPr lang="es-ES" dirty="0"/>
              <a:t> time </a:t>
            </a:r>
            <a:r>
              <a:rPr lang="es-ES" dirty="0" err="1"/>
              <a:t>given</a:t>
            </a:r>
            <a:r>
              <a:rPr lang="es-ES" dirty="0"/>
              <a:t> a series </a:t>
            </a:r>
            <a:r>
              <a:rPr lang="es-ES" dirty="0" err="1"/>
              <a:t>of</a:t>
            </a:r>
            <a:r>
              <a:rPr lang="es-ES" dirty="0"/>
              <a:t> data </a:t>
            </a:r>
            <a:r>
              <a:rPr lang="es-ES" dirty="0" err="1"/>
              <a:t>related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flights</a:t>
            </a:r>
            <a:endParaRPr lang="es-ES" dirty="0"/>
          </a:p>
          <a:p>
            <a:endParaRPr lang="es-ES" dirty="0"/>
          </a:p>
          <a:p>
            <a:r>
              <a:rPr lang="es-ES" dirty="0" err="1"/>
              <a:t>Scope</a:t>
            </a:r>
            <a:r>
              <a:rPr lang="es-ES" dirty="0"/>
              <a:t> </a:t>
            </a:r>
            <a:r>
              <a:rPr lang="es-ES" dirty="0">
                <a:sym typeface="Wingdings" panose="05000000000000000000" pitchFamily="2" charset="2"/>
              </a:rPr>
              <a:t></a:t>
            </a:r>
            <a:r>
              <a:rPr lang="es-ES" dirty="0"/>
              <a:t> </a:t>
            </a:r>
            <a:r>
              <a:rPr lang="es-ES" dirty="0" err="1"/>
              <a:t>four</a:t>
            </a:r>
            <a:r>
              <a:rPr lang="es-ES" dirty="0"/>
              <a:t> </a:t>
            </a:r>
            <a:r>
              <a:rPr lang="es-ES" dirty="0" err="1"/>
              <a:t>different</a:t>
            </a:r>
            <a:r>
              <a:rPr lang="es-ES" dirty="0"/>
              <a:t> </a:t>
            </a:r>
            <a:r>
              <a:rPr lang="es-ES" dirty="0" err="1"/>
              <a:t>airports</a:t>
            </a:r>
            <a:r>
              <a:rPr lang="es-ES" dirty="0"/>
              <a:t> in </a:t>
            </a:r>
            <a:r>
              <a:rPr lang="es-ES" dirty="0" err="1"/>
              <a:t>Spain</a:t>
            </a:r>
            <a:r>
              <a:rPr lang="es-ES" dirty="0"/>
              <a:t>: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s-ES" dirty="0"/>
              <a:t>Madrid-Barajas (LEMD) 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s-ES" dirty="0"/>
              <a:t>Barcelona-El Prat (LEBL)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s-ES" dirty="0"/>
              <a:t>Menorca (LEMH)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s-ES" dirty="0"/>
              <a:t>Santiago-</a:t>
            </a:r>
            <a:r>
              <a:rPr lang="es-ES" dirty="0" err="1"/>
              <a:t>Rosalia</a:t>
            </a:r>
            <a:r>
              <a:rPr lang="es-ES" dirty="0"/>
              <a:t> de Castro (LEST)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012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5100" y="320675"/>
            <a:ext cx="70866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85CD3F-EA91-FE78-7B70-4C989DA4829F}"/>
              </a:ext>
            </a:extLst>
          </p:cNvPr>
          <p:cNvSpPr txBox="1"/>
          <p:nvPr/>
        </p:nvSpPr>
        <p:spPr>
          <a:xfrm>
            <a:off x="850900" y="752475"/>
            <a:ext cx="9067801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1. STATE OF THE ART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2. PROBLEM STATEMENT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3. METHODOLOGY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Machine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Learning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Dataset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Features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selection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Outliers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filtering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Evaluation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metrics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Model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Selection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4. RESULTS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Different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models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a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given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airport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Selected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model at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different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airports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Operational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solution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5. CONCLUSIONS AND FUTURE WORK 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E963A-0334-9FAF-2717-C86028CE2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s-ES" sz="744" b="0" i="0" u="none" strike="noStrike" kern="1200" cap="none" spc="0" normalizeH="0" baseline="0" noProof="0" smtClean="0">
                <a:ln>
                  <a:noFill/>
                </a:ln>
                <a:solidFill>
                  <a:srgbClr val="5FCBEF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s-ES" sz="744" b="0" i="0" u="none" strike="noStrike" kern="1200" cap="none" spc="0" normalizeH="0" baseline="0" noProof="0">
              <a:ln>
                <a:noFill/>
              </a:ln>
              <a:solidFill>
                <a:srgbClr val="5FCBEF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1420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63501" y="401058"/>
            <a:ext cx="7146911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METHODOLOGY: Machine </a:t>
            </a:r>
            <a:r>
              <a:rPr lang="es-ES" sz="2400" spc="-5" dirty="0" err="1">
                <a:solidFill>
                  <a:schemeClr val="tx1"/>
                </a:solidFill>
              </a:rPr>
              <a:t>Learning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process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EBE34-77B4-FE99-F8F9-34B96729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3411" y="5232262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707EDF-4EC5-6AF0-A3D3-E8D82E61D11B}"/>
              </a:ext>
            </a:extLst>
          </p:cNvPr>
          <p:cNvSpPr txBox="1"/>
          <p:nvPr/>
        </p:nvSpPr>
        <p:spPr>
          <a:xfrm>
            <a:off x="698500" y="1006475"/>
            <a:ext cx="75438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s-ES" dirty="0"/>
              <a:t>Data </a:t>
            </a:r>
            <a:r>
              <a:rPr lang="es-ES" dirty="0" err="1"/>
              <a:t>collection</a:t>
            </a:r>
            <a:r>
              <a:rPr lang="es-ES" dirty="0"/>
              <a:t>: data can come </a:t>
            </a:r>
            <a:r>
              <a:rPr lang="es-ES" dirty="0" err="1"/>
              <a:t>from</a:t>
            </a:r>
            <a:r>
              <a:rPr lang="es-ES" dirty="0"/>
              <a:t> </a:t>
            </a:r>
            <a:r>
              <a:rPr lang="es-ES" dirty="0" err="1"/>
              <a:t>different</a:t>
            </a:r>
            <a:r>
              <a:rPr lang="es-ES" dirty="0"/>
              <a:t> </a:t>
            </a:r>
            <a:r>
              <a:rPr lang="es-ES" dirty="0" err="1"/>
              <a:t>sources</a:t>
            </a:r>
            <a:endParaRPr lang="es-ES" dirty="0"/>
          </a:p>
          <a:p>
            <a:endParaRPr lang="es-ES" dirty="0"/>
          </a:p>
          <a:p>
            <a:r>
              <a:rPr lang="es-ES" dirty="0"/>
              <a:t>2. Data </a:t>
            </a:r>
            <a:r>
              <a:rPr lang="es-ES" dirty="0" err="1"/>
              <a:t>preprocessing</a:t>
            </a:r>
            <a:r>
              <a:rPr lang="es-ES" dirty="0"/>
              <a:t>: </a:t>
            </a:r>
            <a:r>
              <a:rPr lang="es-ES" dirty="0" err="1"/>
              <a:t>cleaning</a:t>
            </a:r>
            <a:r>
              <a:rPr lang="es-ES" dirty="0"/>
              <a:t> and </a:t>
            </a:r>
            <a:r>
              <a:rPr lang="es-ES" dirty="0" err="1"/>
              <a:t>transforming</a:t>
            </a:r>
            <a:r>
              <a:rPr lang="es-ES" dirty="0"/>
              <a:t> the data </a:t>
            </a:r>
          </a:p>
          <a:p>
            <a:endParaRPr lang="es-ES" dirty="0"/>
          </a:p>
          <a:p>
            <a:r>
              <a:rPr lang="es-ES" dirty="0"/>
              <a:t>3. Data </a:t>
            </a:r>
            <a:r>
              <a:rPr lang="es-ES" dirty="0" err="1"/>
              <a:t>splitting</a:t>
            </a:r>
            <a:r>
              <a:rPr lang="es-ES" dirty="0"/>
              <a:t>: </a:t>
            </a:r>
            <a:r>
              <a:rPr lang="es-ES" dirty="0" err="1"/>
              <a:t>split</a:t>
            </a:r>
            <a:r>
              <a:rPr lang="es-ES" dirty="0"/>
              <a:t> </a:t>
            </a:r>
            <a:r>
              <a:rPr lang="es-ES" dirty="0" err="1"/>
              <a:t>into</a:t>
            </a:r>
            <a:r>
              <a:rPr lang="es-ES" dirty="0"/>
              <a:t> </a:t>
            </a:r>
            <a:r>
              <a:rPr lang="es-ES" dirty="0" err="1"/>
              <a:t>train</a:t>
            </a:r>
            <a:r>
              <a:rPr lang="es-ES" dirty="0"/>
              <a:t> and test set </a:t>
            </a:r>
          </a:p>
          <a:p>
            <a:endParaRPr lang="es-ES" dirty="0"/>
          </a:p>
          <a:p>
            <a:r>
              <a:rPr lang="es-ES" dirty="0"/>
              <a:t>4. Model </a:t>
            </a:r>
            <a:r>
              <a:rPr lang="es-ES" dirty="0" err="1"/>
              <a:t>selection</a:t>
            </a:r>
            <a:r>
              <a:rPr lang="es-ES" dirty="0"/>
              <a:t>: </a:t>
            </a:r>
            <a:r>
              <a:rPr lang="es-ES" dirty="0" err="1"/>
              <a:t>select</a:t>
            </a:r>
            <a:r>
              <a:rPr lang="es-ES" dirty="0"/>
              <a:t> the ML </a:t>
            </a:r>
            <a:r>
              <a:rPr lang="es-ES" dirty="0" err="1"/>
              <a:t>algorithm</a:t>
            </a:r>
            <a:r>
              <a:rPr lang="es-ES" dirty="0"/>
              <a:t> more </a:t>
            </a:r>
            <a:r>
              <a:rPr lang="es-ES" dirty="0" err="1"/>
              <a:t>suitable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make</a:t>
            </a:r>
            <a:r>
              <a:rPr lang="es-ES" dirty="0"/>
              <a:t> </a:t>
            </a:r>
            <a:r>
              <a:rPr lang="es-ES" dirty="0" err="1"/>
              <a:t>predictions</a:t>
            </a:r>
            <a:r>
              <a:rPr lang="es-ES" dirty="0"/>
              <a:t> </a:t>
            </a:r>
            <a:r>
              <a:rPr lang="es-ES" dirty="0" err="1"/>
              <a:t>according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our</a:t>
            </a:r>
            <a:r>
              <a:rPr lang="es-ES" dirty="0"/>
              <a:t> data </a:t>
            </a:r>
          </a:p>
          <a:p>
            <a:endParaRPr lang="es-ES" dirty="0"/>
          </a:p>
          <a:p>
            <a:r>
              <a:rPr lang="es-ES" dirty="0"/>
              <a:t>5. Model training: model </a:t>
            </a:r>
            <a:r>
              <a:rPr lang="es-ES" dirty="0" err="1"/>
              <a:t>learns</a:t>
            </a:r>
            <a:r>
              <a:rPr lang="es-ES" dirty="0"/>
              <a:t> </a:t>
            </a:r>
            <a:r>
              <a:rPr lang="es-ES" dirty="0" err="1"/>
              <a:t>from</a:t>
            </a:r>
            <a:r>
              <a:rPr lang="es-ES" dirty="0"/>
              <a:t> the data </a:t>
            </a:r>
          </a:p>
          <a:p>
            <a:endParaRPr lang="es-ES" dirty="0"/>
          </a:p>
          <a:p>
            <a:r>
              <a:rPr lang="es-ES" dirty="0"/>
              <a:t>6. Model </a:t>
            </a:r>
            <a:r>
              <a:rPr lang="es-ES" dirty="0" err="1"/>
              <a:t>evaluation</a:t>
            </a:r>
            <a:r>
              <a:rPr lang="es-ES" dirty="0"/>
              <a:t>: performance </a:t>
            </a:r>
            <a:r>
              <a:rPr lang="es-ES" dirty="0" err="1"/>
              <a:t>of</a:t>
            </a:r>
            <a:r>
              <a:rPr lang="es-ES" dirty="0"/>
              <a:t> the model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evaluated</a:t>
            </a:r>
            <a:endParaRPr lang="es-ES" dirty="0"/>
          </a:p>
          <a:p>
            <a:endParaRPr lang="es-ES" dirty="0"/>
          </a:p>
          <a:p>
            <a:r>
              <a:rPr lang="es-ES" dirty="0"/>
              <a:t>7. </a:t>
            </a:r>
            <a:r>
              <a:rPr lang="es-ES" dirty="0" err="1"/>
              <a:t>Monitoring</a:t>
            </a:r>
            <a:r>
              <a:rPr lang="es-ES" dirty="0"/>
              <a:t>: </a:t>
            </a:r>
            <a:r>
              <a:rPr lang="es-ES" dirty="0" err="1"/>
              <a:t>deploy</a:t>
            </a:r>
            <a:r>
              <a:rPr lang="es-ES" dirty="0"/>
              <a:t> the model in </a:t>
            </a:r>
            <a:r>
              <a:rPr lang="es-ES" dirty="0" err="1"/>
              <a:t>an</a:t>
            </a:r>
            <a:r>
              <a:rPr lang="es-ES" dirty="0"/>
              <a:t> </a:t>
            </a:r>
            <a:r>
              <a:rPr lang="es-ES" dirty="0" err="1"/>
              <a:t>environments</a:t>
            </a:r>
            <a:r>
              <a:rPr lang="es-ES" dirty="0"/>
              <a:t> </a:t>
            </a:r>
            <a:r>
              <a:rPr lang="es-ES" dirty="0" err="1"/>
              <a:t>where</a:t>
            </a:r>
            <a:r>
              <a:rPr lang="es-ES" dirty="0"/>
              <a:t> </a:t>
            </a:r>
            <a:r>
              <a:rPr lang="es-ES" dirty="0" err="1"/>
              <a:t>it</a:t>
            </a:r>
            <a:r>
              <a:rPr lang="es-ES" dirty="0"/>
              <a:t> can </a:t>
            </a:r>
            <a:r>
              <a:rPr lang="es-ES" dirty="0" err="1"/>
              <a:t>make</a:t>
            </a:r>
            <a:r>
              <a:rPr lang="es-ES" dirty="0"/>
              <a:t> </a:t>
            </a:r>
            <a:r>
              <a:rPr lang="es-ES" dirty="0" err="1"/>
              <a:t>predictions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new data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67031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63501" y="401058"/>
            <a:ext cx="7146911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METHODOLOGY: </a:t>
            </a:r>
            <a:r>
              <a:rPr lang="es-ES" sz="2400" spc="-5" dirty="0" err="1">
                <a:solidFill>
                  <a:schemeClr val="tx1"/>
                </a:solidFill>
              </a:rPr>
              <a:t>Dataset</a:t>
            </a:r>
            <a:endParaRPr lang="es-ES" sz="2400" spc="-5" dirty="0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EBE34-77B4-FE99-F8F9-34B96729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3411" y="5232262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3BF766-E68F-82B8-F566-F6330F8283DA}"/>
              </a:ext>
            </a:extLst>
          </p:cNvPr>
          <p:cNvSpPr txBox="1"/>
          <p:nvPr/>
        </p:nvSpPr>
        <p:spPr>
          <a:xfrm>
            <a:off x="622300" y="1006475"/>
            <a:ext cx="86106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Information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flights</a:t>
            </a:r>
            <a:r>
              <a:rPr lang="es-ES" dirty="0"/>
              <a:t> </a:t>
            </a:r>
            <a:r>
              <a:rPr lang="es-ES" dirty="0" err="1"/>
              <a:t>throuhgout</a:t>
            </a:r>
            <a:r>
              <a:rPr lang="es-ES" dirty="0"/>
              <a:t> 2017, </a:t>
            </a:r>
            <a:r>
              <a:rPr lang="es-ES" dirty="0" err="1"/>
              <a:t>from</a:t>
            </a:r>
            <a:r>
              <a:rPr lang="es-ES" dirty="0"/>
              <a:t> </a:t>
            </a:r>
            <a:r>
              <a:rPr lang="es-ES" dirty="0" err="1"/>
              <a:t>January</a:t>
            </a:r>
            <a:r>
              <a:rPr lang="es-ES" dirty="0"/>
              <a:t> 1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December</a:t>
            </a:r>
            <a:r>
              <a:rPr lang="es-ES" dirty="0"/>
              <a:t> 31, </a:t>
            </a:r>
            <a:r>
              <a:rPr lang="es-ES" dirty="0" err="1"/>
              <a:t>of</a:t>
            </a:r>
            <a:r>
              <a:rPr lang="es-ES" dirty="0"/>
              <a:t> 4 </a:t>
            </a:r>
            <a:r>
              <a:rPr lang="es-ES" dirty="0" err="1"/>
              <a:t>Spanish</a:t>
            </a:r>
            <a:r>
              <a:rPr lang="es-ES" dirty="0"/>
              <a:t> </a:t>
            </a:r>
            <a:r>
              <a:rPr lang="es-ES" dirty="0" err="1"/>
              <a:t>airports</a:t>
            </a:r>
            <a:r>
              <a:rPr lang="es-ES" dirty="0"/>
              <a:t> (</a:t>
            </a:r>
            <a:r>
              <a:rPr lang="es-ES" dirty="0" err="1"/>
              <a:t>provided</a:t>
            </a:r>
            <a:r>
              <a:rPr lang="es-ES" dirty="0"/>
              <a:t> </a:t>
            </a:r>
            <a:r>
              <a:rPr lang="es-ES" dirty="0" err="1"/>
              <a:t>by</a:t>
            </a:r>
            <a:r>
              <a:rPr lang="es-ES" dirty="0"/>
              <a:t> CRIDA): </a:t>
            </a:r>
          </a:p>
          <a:p>
            <a:endParaRPr lang="es-ES" dirty="0"/>
          </a:p>
          <a:p>
            <a:r>
              <a:rPr lang="es-ES" dirty="0" err="1"/>
              <a:t>Different</a:t>
            </a:r>
            <a:r>
              <a:rPr lang="es-ES" dirty="0"/>
              <a:t> </a:t>
            </a:r>
            <a:r>
              <a:rPr lang="es-ES" dirty="0" err="1"/>
              <a:t>level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traffic</a:t>
            </a:r>
            <a:r>
              <a:rPr lang="es-E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LEMD: 175936 </a:t>
            </a:r>
            <a:r>
              <a:rPr lang="es-ES" dirty="0" err="1"/>
              <a:t>flights</a:t>
            </a: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LEBL: 150456 </a:t>
            </a:r>
            <a:r>
              <a:rPr lang="es-ES" dirty="0" err="1"/>
              <a:t>flights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LEMH: 14012 </a:t>
            </a:r>
            <a:r>
              <a:rPr lang="es-ES" dirty="0" err="1"/>
              <a:t>flights</a:t>
            </a: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LEST: 9314 </a:t>
            </a:r>
            <a:r>
              <a:rPr lang="es-ES" dirty="0" err="1"/>
              <a:t>flights</a:t>
            </a:r>
            <a:endParaRPr lang="es-ES" dirty="0"/>
          </a:p>
          <a:p>
            <a:endParaRPr lang="es-ES" dirty="0"/>
          </a:p>
          <a:p>
            <a:r>
              <a:rPr lang="es-ES" dirty="0"/>
              <a:t>22 </a:t>
            </a:r>
            <a:r>
              <a:rPr lang="es-ES" dirty="0" err="1"/>
              <a:t>features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information</a:t>
            </a:r>
            <a:r>
              <a:rPr lang="es-ES" dirty="0"/>
              <a:t>, </a:t>
            </a:r>
            <a:r>
              <a:rPr lang="es-ES" dirty="0" err="1"/>
              <a:t>including</a:t>
            </a:r>
            <a:r>
              <a:rPr lang="es-ES" dirty="0"/>
              <a:t> the date and time </a:t>
            </a:r>
            <a:r>
              <a:rPr lang="es-ES" dirty="0" err="1"/>
              <a:t>of</a:t>
            </a:r>
            <a:r>
              <a:rPr lang="es-ES" dirty="0"/>
              <a:t> the </a:t>
            </a:r>
            <a:r>
              <a:rPr lang="es-ES" dirty="0" err="1"/>
              <a:t>different</a:t>
            </a:r>
            <a:r>
              <a:rPr lang="es-ES" dirty="0"/>
              <a:t> </a:t>
            </a:r>
            <a:r>
              <a:rPr lang="es-ES" dirty="0" err="1"/>
              <a:t>events</a:t>
            </a:r>
            <a:r>
              <a:rPr lang="es-ES" dirty="0"/>
              <a:t> (</a:t>
            </a:r>
            <a:r>
              <a:rPr lang="es-ES" dirty="0" err="1"/>
              <a:t>take</a:t>
            </a:r>
            <a:r>
              <a:rPr lang="es-ES" dirty="0"/>
              <a:t>-off, </a:t>
            </a:r>
            <a:r>
              <a:rPr lang="es-ES" dirty="0" err="1"/>
              <a:t>landing</a:t>
            </a:r>
            <a:r>
              <a:rPr lang="es-ES" dirty="0"/>
              <a:t>, </a:t>
            </a:r>
            <a:r>
              <a:rPr lang="es-ES" dirty="0" err="1"/>
              <a:t>in-blocks</a:t>
            </a:r>
            <a:r>
              <a:rPr lang="es-ES" dirty="0"/>
              <a:t>, off-</a:t>
            </a:r>
            <a:r>
              <a:rPr lang="es-ES" dirty="0" err="1"/>
              <a:t>blocks,etc</a:t>
            </a:r>
            <a:r>
              <a:rPr lang="es-ES" dirty="0"/>
              <a:t>.), </a:t>
            </a:r>
            <a:r>
              <a:rPr lang="es-ES" dirty="0" err="1"/>
              <a:t>aircraft</a:t>
            </a:r>
            <a:r>
              <a:rPr lang="es-ES" dirty="0"/>
              <a:t> </a:t>
            </a:r>
            <a:r>
              <a:rPr lang="es-ES" dirty="0" err="1"/>
              <a:t>type</a:t>
            </a:r>
            <a:r>
              <a:rPr lang="es-ES" dirty="0"/>
              <a:t>, </a:t>
            </a:r>
            <a:r>
              <a:rPr lang="es-ES" dirty="0" err="1"/>
              <a:t>airline</a:t>
            </a:r>
            <a:r>
              <a:rPr lang="es-ES" dirty="0"/>
              <a:t>, </a:t>
            </a:r>
            <a:r>
              <a:rPr lang="es-ES" dirty="0" err="1"/>
              <a:t>scheduled</a:t>
            </a:r>
            <a:r>
              <a:rPr lang="es-ES" dirty="0"/>
              <a:t> </a:t>
            </a:r>
            <a:r>
              <a:rPr lang="es-ES" dirty="0" err="1"/>
              <a:t>turnaround</a:t>
            </a:r>
            <a:r>
              <a:rPr lang="es-ES" dirty="0"/>
              <a:t> time, etc. </a:t>
            </a:r>
          </a:p>
          <a:p>
            <a:endParaRPr lang="es-ES" dirty="0"/>
          </a:p>
          <a:p>
            <a:r>
              <a:rPr lang="es-ES" dirty="0" err="1"/>
              <a:t>Dataset</a:t>
            </a:r>
            <a:r>
              <a:rPr lang="es-ES" dirty="0"/>
              <a:t> </a:t>
            </a:r>
            <a:r>
              <a:rPr lang="es-ES" dirty="0" err="1"/>
              <a:t>splitted</a:t>
            </a:r>
            <a:r>
              <a:rPr lang="es-ES" dirty="0"/>
              <a:t> </a:t>
            </a:r>
            <a:r>
              <a:rPr lang="es-ES" dirty="0" err="1"/>
              <a:t>into</a:t>
            </a:r>
            <a:r>
              <a:rPr lang="es-ES" dirty="0"/>
              <a:t> </a:t>
            </a:r>
            <a:r>
              <a:rPr lang="es-ES" dirty="0" err="1"/>
              <a:t>train</a:t>
            </a:r>
            <a:r>
              <a:rPr lang="es-ES" dirty="0"/>
              <a:t> set (80%) and test set (20%)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62674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63501" y="401058"/>
            <a:ext cx="7146911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METHODOLOGY: </a:t>
            </a:r>
            <a:r>
              <a:rPr lang="es-ES" sz="2400" spc="-5" dirty="0" err="1">
                <a:solidFill>
                  <a:schemeClr val="tx1"/>
                </a:solidFill>
              </a:rPr>
              <a:t>Feature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selection</a:t>
            </a:r>
            <a:endParaRPr lang="es-ES" sz="2400" spc="-5" dirty="0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EBE34-77B4-FE99-F8F9-34B96729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3411" y="5232262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ACF0CE-9D3C-7513-B4AD-709A4937D6C2}"/>
              </a:ext>
            </a:extLst>
          </p:cNvPr>
          <p:cNvSpPr txBox="1"/>
          <p:nvPr/>
        </p:nvSpPr>
        <p:spPr>
          <a:xfrm>
            <a:off x="622300" y="1576577"/>
            <a:ext cx="84582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Selection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fundamental </a:t>
            </a:r>
            <a:r>
              <a:rPr lang="es-ES" dirty="0" err="1"/>
              <a:t>features</a:t>
            </a:r>
            <a:r>
              <a:rPr lang="es-ES" dirty="0"/>
              <a:t> </a:t>
            </a:r>
            <a:r>
              <a:rPr lang="es-ES" dirty="0" err="1"/>
              <a:t>by</a:t>
            </a:r>
            <a:r>
              <a:rPr lang="es-ES" dirty="0"/>
              <a:t> </a:t>
            </a:r>
            <a:r>
              <a:rPr lang="es-ES" dirty="0" err="1"/>
              <a:t>means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two </a:t>
            </a:r>
            <a:r>
              <a:rPr lang="es-ES" dirty="0" err="1"/>
              <a:t>methods</a:t>
            </a:r>
            <a:r>
              <a:rPr lang="es-ES" dirty="0"/>
              <a:t>: </a:t>
            </a:r>
          </a:p>
          <a:p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/>
              <a:t>Expertise</a:t>
            </a:r>
            <a:r>
              <a:rPr lang="es-ES" dirty="0"/>
              <a:t> </a:t>
            </a:r>
            <a:r>
              <a:rPr lang="es-ES" dirty="0" err="1"/>
              <a:t>judgement</a:t>
            </a:r>
            <a:r>
              <a:rPr lang="es-ES" dirty="0"/>
              <a:t>: use </a:t>
            </a:r>
            <a:r>
              <a:rPr lang="es-ES" dirty="0" err="1"/>
              <a:t>of</a:t>
            </a:r>
            <a:r>
              <a:rPr lang="es-ES" dirty="0"/>
              <a:t> the </a:t>
            </a:r>
            <a:r>
              <a:rPr lang="es-ES" dirty="0" err="1"/>
              <a:t>knowledge</a:t>
            </a:r>
            <a:r>
              <a:rPr lang="es-ES" dirty="0"/>
              <a:t> and </a:t>
            </a:r>
            <a:r>
              <a:rPr lang="es-ES" dirty="0" err="1"/>
              <a:t>experience</a:t>
            </a:r>
            <a:r>
              <a:rPr lang="es-ES" dirty="0"/>
              <a:t> </a:t>
            </a:r>
            <a:r>
              <a:rPr lang="es-ES" dirty="0" err="1"/>
              <a:t>from</a:t>
            </a:r>
            <a:r>
              <a:rPr lang="es-ES" dirty="0"/>
              <a:t> </a:t>
            </a:r>
            <a:r>
              <a:rPr lang="es-ES" dirty="0" err="1"/>
              <a:t>professionals</a:t>
            </a:r>
            <a:r>
              <a:rPr lang="es-ES" dirty="0"/>
              <a:t>, </a:t>
            </a:r>
            <a:r>
              <a:rPr lang="es-ES" dirty="0" err="1"/>
              <a:t>check</a:t>
            </a:r>
            <a:r>
              <a:rPr lang="es-ES" dirty="0"/>
              <a:t> </a:t>
            </a:r>
            <a:r>
              <a:rPr lang="es-ES" dirty="0" err="1"/>
              <a:t>bibliography</a:t>
            </a:r>
            <a:r>
              <a:rPr lang="es-ES" dirty="0"/>
              <a:t>, etc.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Principal </a:t>
            </a:r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Analysis</a:t>
            </a:r>
            <a:r>
              <a:rPr lang="es-ES" dirty="0"/>
              <a:t> (PCA): </a:t>
            </a:r>
            <a:r>
              <a:rPr lang="es-ES" dirty="0" err="1"/>
              <a:t>statistical</a:t>
            </a:r>
            <a:r>
              <a:rPr lang="es-ES" dirty="0"/>
              <a:t> </a:t>
            </a:r>
            <a:r>
              <a:rPr lang="es-ES" dirty="0" err="1"/>
              <a:t>method</a:t>
            </a:r>
            <a:r>
              <a:rPr lang="es-ES" dirty="0"/>
              <a:t> </a:t>
            </a:r>
            <a:r>
              <a:rPr lang="es-ES" dirty="0" err="1"/>
              <a:t>used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describe a </a:t>
            </a:r>
            <a:r>
              <a:rPr lang="es-ES" dirty="0" err="1"/>
              <a:t>dataset</a:t>
            </a:r>
            <a:r>
              <a:rPr lang="es-ES" dirty="0"/>
              <a:t> in </a:t>
            </a:r>
            <a:r>
              <a:rPr lang="es-ES" dirty="0" err="1"/>
              <a:t>terms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new </a:t>
            </a:r>
            <a:r>
              <a:rPr lang="es-ES" dirty="0" err="1"/>
              <a:t>uncorrelated</a:t>
            </a:r>
            <a:r>
              <a:rPr lang="es-ES" dirty="0"/>
              <a:t> variables.</a:t>
            </a:r>
          </a:p>
          <a:p>
            <a:endParaRPr lang="en-US" dirty="0"/>
          </a:p>
          <a:p>
            <a:r>
              <a:rPr lang="en-US" dirty="0"/>
              <a:t>Advantages of feature selection: reduction of computational cost, simpler models (easier to understand by other users) and prevention of overfitting</a:t>
            </a:r>
          </a:p>
        </p:txBody>
      </p:sp>
    </p:spTree>
    <p:extLst>
      <p:ext uri="{BB962C8B-B14F-4D97-AF65-F5344CB8AC3E}">
        <p14:creationId xmlns:p14="http://schemas.microsoft.com/office/powerpoint/2010/main" val="563095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63501" y="401058"/>
            <a:ext cx="7146911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METHODOLOGY: </a:t>
            </a:r>
            <a:r>
              <a:rPr lang="es-ES" sz="2400" spc="-5" dirty="0" err="1">
                <a:solidFill>
                  <a:schemeClr val="tx1"/>
                </a:solidFill>
              </a:rPr>
              <a:t>Outliers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filtering</a:t>
            </a:r>
            <a:endParaRPr lang="es-ES" sz="2400" spc="-5" dirty="0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EBE34-77B4-FE99-F8F9-34B96729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3411" y="5232262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698377-2849-BE59-951C-0594152C0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40" y="3037800"/>
            <a:ext cx="4014256" cy="24085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ABC39E6-671F-0EB3-C50C-3DF9CBC67E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2380" y="3107458"/>
            <a:ext cx="3782060" cy="22692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C581FB8-0724-1C1A-8A2A-DE76F02A06E1}"/>
              </a:ext>
            </a:extLst>
          </p:cNvPr>
          <p:cNvSpPr txBox="1"/>
          <p:nvPr/>
        </p:nvSpPr>
        <p:spPr>
          <a:xfrm>
            <a:off x="546100" y="1006475"/>
            <a:ext cx="8610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Long </a:t>
            </a:r>
            <a:r>
              <a:rPr lang="es-ES" dirty="0" err="1"/>
              <a:t>tails</a:t>
            </a:r>
            <a:r>
              <a:rPr lang="es-ES" dirty="0"/>
              <a:t> </a:t>
            </a:r>
            <a:r>
              <a:rPr lang="es-ES" dirty="0" err="1"/>
              <a:t>along</a:t>
            </a:r>
            <a:r>
              <a:rPr lang="es-ES" dirty="0"/>
              <a:t> the positive x-axis </a:t>
            </a:r>
            <a:r>
              <a:rPr lang="es-ES" dirty="0" err="1"/>
              <a:t>may</a:t>
            </a:r>
            <a:r>
              <a:rPr lang="es-ES" dirty="0"/>
              <a:t> introduce </a:t>
            </a:r>
            <a:r>
              <a:rPr lang="es-ES" dirty="0" err="1"/>
              <a:t>noise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our</a:t>
            </a:r>
            <a:r>
              <a:rPr lang="es-ES" dirty="0"/>
              <a:t> model</a:t>
            </a:r>
          </a:p>
          <a:p>
            <a:endParaRPr lang="es-ES" dirty="0"/>
          </a:p>
          <a:p>
            <a:r>
              <a:rPr lang="es-ES" dirty="0" err="1"/>
              <a:t>Outliers</a:t>
            </a:r>
            <a:r>
              <a:rPr lang="es-ES" dirty="0"/>
              <a:t> </a:t>
            </a:r>
            <a:r>
              <a:rPr lang="es-ES" dirty="0" err="1"/>
              <a:t>filtering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ensure</a:t>
            </a:r>
            <a:r>
              <a:rPr lang="es-ES" dirty="0"/>
              <a:t> that the data we use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train</a:t>
            </a:r>
            <a:r>
              <a:rPr lang="es-ES" dirty="0"/>
              <a:t> the model </a:t>
            </a:r>
            <a:r>
              <a:rPr lang="es-ES" dirty="0" err="1"/>
              <a:t>constitutes</a:t>
            </a:r>
            <a:r>
              <a:rPr lang="es-ES" dirty="0"/>
              <a:t> a </a:t>
            </a:r>
            <a:r>
              <a:rPr lang="es-ES" dirty="0" err="1"/>
              <a:t>significant</a:t>
            </a:r>
            <a:r>
              <a:rPr lang="es-ES" dirty="0"/>
              <a:t> </a:t>
            </a:r>
            <a:r>
              <a:rPr lang="es-ES" dirty="0" err="1"/>
              <a:t>sample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typical</a:t>
            </a:r>
            <a:r>
              <a:rPr lang="es-ES" dirty="0"/>
              <a:t> </a:t>
            </a:r>
            <a:r>
              <a:rPr lang="es-ES" dirty="0" err="1"/>
              <a:t>behaviours</a:t>
            </a:r>
            <a:r>
              <a:rPr lang="es-ES" dirty="0"/>
              <a:t>, </a:t>
            </a:r>
            <a:r>
              <a:rPr lang="es-ES" dirty="0" err="1"/>
              <a:t>removing</a:t>
            </a:r>
            <a:r>
              <a:rPr lang="es-ES" dirty="0"/>
              <a:t> extreme </a:t>
            </a:r>
            <a:r>
              <a:rPr lang="es-ES" dirty="0" err="1"/>
              <a:t>behaviours</a:t>
            </a:r>
            <a:endParaRPr lang="es-ES" dirty="0"/>
          </a:p>
          <a:p>
            <a:endParaRPr lang="es-ES" dirty="0"/>
          </a:p>
          <a:p>
            <a:r>
              <a:rPr lang="es-ES" dirty="0" err="1"/>
              <a:t>Consider</a:t>
            </a:r>
            <a:r>
              <a:rPr lang="es-ES" dirty="0"/>
              <a:t> </a:t>
            </a:r>
            <a:r>
              <a:rPr lang="es-ES" dirty="0" err="1"/>
              <a:t>interquartile</a:t>
            </a:r>
            <a:r>
              <a:rPr lang="es-ES" dirty="0"/>
              <a:t> </a:t>
            </a:r>
            <a:r>
              <a:rPr lang="es-ES" dirty="0" err="1"/>
              <a:t>range</a:t>
            </a:r>
            <a:r>
              <a:rPr lang="es-ES" dirty="0"/>
              <a:t> (IQR) </a:t>
            </a:r>
            <a:r>
              <a:rPr lang="es-ES" dirty="0" err="1"/>
              <a:t>if</a:t>
            </a:r>
            <a:r>
              <a:rPr lang="es-ES" dirty="0"/>
              <a:t> posible </a:t>
            </a:r>
            <a:r>
              <a:rPr lang="es-ES" dirty="0">
                <a:sym typeface="Wingdings" panose="05000000000000000000" pitchFamily="2" charset="2"/>
              </a:rPr>
              <a:t> </a:t>
            </a:r>
            <a:r>
              <a:rPr lang="es-ES" dirty="0" err="1">
                <a:sym typeface="Wingdings" panose="05000000000000000000" pitchFamily="2" charset="2"/>
              </a:rPr>
              <a:t>range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between</a:t>
            </a:r>
            <a:r>
              <a:rPr lang="es-ES" dirty="0">
                <a:sym typeface="Wingdings" panose="05000000000000000000" pitchFamily="2" charset="2"/>
              </a:rPr>
              <a:t> 25% </a:t>
            </a:r>
            <a:r>
              <a:rPr lang="es-ES" dirty="0" err="1">
                <a:sym typeface="Wingdings" panose="05000000000000000000" pitchFamily="2" charset="2"/>
              </a:rPr>
              <a:t>quantile</a:t>
            </a:r>
            <a:r>
              <a:rPr lang="es-ES" dirty="0">
                <a:sym typeface="Wingdings" panose="05000000000000000000" pitchFamily="2" charset="2"/>
              </a:rPr>
              <a:t> and 75% </a:t>
            </a:r>
            <a:r>
              <a:rPr lang="es-ES" dirty="0" err="1">
                <a:sym typeface="Wingdings" panose="05000000000000000000" pitchFamily="2" charset="2"/>
              </a:rPr>
              <a:t>quantile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31839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63501" y="401058"/>
            <a:ext cx="7146911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METHODOLOGY: </a:t>
            </a:r>
            <a:r>
              <a:rPr lang="es-ES" sz="2400" spc="-5" dirty="0" err="1">
                <a:solidFill>
                  <a:schemeClr val="tx1"/>
                </a:solidFill>
              </a:rPr>
              <a:t>Evaluation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metrics</a:t>
            </a:r>
            <a:r>
              <a:rPr lang="es-ES" sz="2400" spc="-5" dirty="0">
                <a:solidFill>
                  <a:schemeClr val="tx1"/>
                </a:solidFill>
              </a:rPr>
              <a:t> (I)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EBE34-77B4-FE99-F8F9-34B96729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3411" y="5232262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E4DF81F-E6E6-CEF9-25F5-BCD12D841556}"/>
                  </a:ext>
                </a:extLst>
              </p:cNvPr>
              <p:cNvSpPr txBox="1"/>
              <p:nvPr/>
            </p:nvSpPr>
            <p:spPr>
              <a:xfrm>
                <a:off x="3765756" y="1618958"/>
                <a:ext cx="2164888" cy="756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𝑀𝐴𝐸</m:t>
                      </m:r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E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E4DF81F-E6E6-CEF9-25F5-BCD12D8415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5756" y="1618958"/>
                <a:ext cx="2164888" cy="7562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5E03A72-BD6F-9B13-983E-E369AAF29047}"/>
                  </a:ext>
                </a:extLst>
              </p:cNvPr>
              <p:cNvSpPr txBox="1"/>
              <p:nvPr/>
            </p:nvSpPr>
            <p:spPr>
              <a:xfrm>
                <a:off x="3765756" y="3905411"/>
                <a:ext cx="2556276" cy="620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=1 −</m:t>
                      </m:r>
                      <m:f>
                        <m:f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s-E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s-E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s-E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es-E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s-E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s-E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s-E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s-E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s-E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s-E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s-E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s-E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s-E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s-E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s-E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5E03A72-BD6F-9B13-983E-E369AAF29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5756" y="3905411"/>
                <a:ext cx="2556276" cy="6202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ECD8BE25-C974-A745-A25F-496178EC9656}"/>
              </a:ext>
            </a:extLst>
          </p:cNvPr>
          <p:cNvSpPr txBox="1"/>
          <p:nvPr/>
        </p:nvSpPr>
        <p:spPr>
          <a:xfrm>
            <a:off x="622300" y="1006475"/>
            <a:ext cx="8686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Mean Absolute Error (MAE): can be </a:t>
            </a:r>
            <a:r>
              <a:rPr lang="es-ES" dirty="0" err="1"/>
              <a:t>interpreted</a:t>
            </a:r>
            <a:r>
              <a:rPr lang="es-ES" dirty="0"/>
              <a:t> as the mean error </a:t>
            </a:r>
            <a:r>
              <a:rPr lang="es-ES" dirty="0" err="1"/>
              <a:t>between</a:t>
            </a:r>
            <a:r>
              <a:rPr lang="es-ES" dirty="0"/>
              <a:t> the data and the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F8C277F-C766-E331-C8BC-9FBBFFDA7250}"/>
                  </a:ext>
                </a:extLst>
              </p:cNvPr>
              <p:cNvSpPr txBox="1"/>
              <p:nvPr/>
            </p:nvSpPr>
            <p:spPr>
              <a:xfrm>
                <a:off x="774700" y="2972194"/>
                <a:ext cx="868680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dirty="0"/>
                  <a:t>Coefficient </a:t>
                </a:r>
                <a:r>
                  <a:rPr lang="es-ES" dirty="0" err="1"/>
                  <a:t>of</a:t>
                </a:r>
                <a:r>
                  <a:rPr lang="es-ES" dirty="0"/>
                  <a:t> </a:t>
                </a:r>
                <a:r>
                  <a:rPr lang="es-ES" dirty="0" err="1"/>
                  <a:t>determination</a:t>
                </a:r>
                <a:r>
                  <a:rPr lang="es-ES" dirty="0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): determines how good is the model approximating real data points. Useful to compare several models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F8C277F-C766-E331-C8BC-9FBBFFDA72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700" y="2972194"/>
                <a:ext cx="8686800" cy="646331"/>
              </a:xfrm>
              <a:prstGeom prst="rect">
                <a:avLst/>
              </a:prstGeom>
              <a:blipFill>
                <a:blip r:embed="rId4"/>
                <a:stretch>
                  <a:fillRect l="-561" t="-6604" b="-13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15592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63501" y="401058"/>
            <a:ext cx="7146911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METHODOLOGY: </a:t>
            </a:r>
            <a:r>
              <a:rPr lang="es-ES" sz="2400" spc="-5" dirty="0" err="1">
                <a:solidFill>
                  <a:schemeClr val="tx1"/>
                </a:solidFill>
              </a:rPr>
              <a:t>Evaluation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metrics</a:t>
            </a:r>
            <a:r>
              <a:rPr lang="es-ES" sz="2400" spc="-5" dirty="0">
                <a:solidFill>
                  <a:schemeClr val="tx1"/>
                </a:solidFill>
              </a:rPr>
              <a:t> (II)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EBE34-77B4-FE99-F8F9-34B96729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3411" y="5232262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E4DF81F-E6E6-CEF9-25F5-BCD12D841556}"/>
                  </a:ext>
                </a:extLst>
              </p:cNvPr>
              <p:cNvSpPr txBox="1"/>
              <p:nvPr/>
            </p:nvSpPr>
            <p:spPr>
              <a:xfrm>
                <a:off x="3670300" y="1839584"/>
                <a:ext cx="2293705" cy="756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𝑀𝑆𝐸</m:t>
                      </m:r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E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s-E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s-E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E4DF81F-E6E6-CEF9-25F5-BCD12D8415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0300" y="1839584"/>
                <a:ext cx="2293705" cy="7562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5E03A72-BD6F-9B13-983E-E369AAF29047}"/>
                  </a:ext>
                </a:extLst>
              </p:cNvPr>
              <p:cNvSpPr txBox="1"/>
              <p:nvPr/>
            </p:nvSpPr>
            <p:spPr>
              <a:xfrm>
                <a:off x="3244452" y="4117005"/>
                <a:ext cx="3594895" cy="10776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𝑀𝑆𝐸</m:t>
                          </m:r>
                        </m:e>
                      </m:ra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s-E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E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E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s-E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s-E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s-E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s-E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s-E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s-E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s-E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s-E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s-E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s-E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s-E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s-ES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s-E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5E03A72-BD6F-9B13-983E-E369AAF29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4452" y="4117005"/>
                <a:ext cx="3594895" cy="1077603"/>
              </a:xfrm>
              <a:prstGeom prst="rect">
                <a:avLst/>
              </a:prstGeom>
              <a:blipFill>
                <a:blip r:embed="rId3"/>
                <a:stretch>
                  <a:fillRect b="-5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19866C74-271E-CA9E-4F94-A9B97CBC3174}"/>
              </a:ext>
            </a:extLst>
          </p:cNvPr>
          <p:cNvSpPr txBox="1"/>
          <p:nvPr/>
        </p:nvSpPr>
        <p:spPr>
          <a:xfrm>
            <a:off x="622300" y="1237722"/>
            <a:ext cx="883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Mean </a:t>
            </a:r>
            <a:r>
              <a:rPr lang="es-ES" dirty="0" err="1"/>
              <a:t>Squared</a:t>
            </a:r>
            <a:r>
              <a:rPr lang="es-ES" dirty="0"/>
              <a:t> Error (MSE): sensitive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large</a:t>
            </a:r>
            <a:r>
              <a:rPr lang="es-ES" dirty="0"/>
              <a:t> </a:t>
            </a:r>
            <a:r>
              <a:rPr lang="es-ES" dirty="0" err="1"/>
              <a:t>errors</a:t>
            </a:r>
            <a:r>
              <a:rPr lang="es-ES" dirty="0"/>
              <a:t>, </a:t>
            </a:r>
            <a:r>
              <a:rPr lang="es-ES" dirty="0" err="1"/>
              <a:t>useful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capture </a:t>
            </a:r>
            <a:r>
              <a:rPr lang="es-ES" dirty="0" err="1"/>
              <a:t>outliers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472DA4-977C-D484-D157-83A077558AA1}"/>
              </a:ext>
            </a:extLst>
          </p:cNvPr>
          <p:cNvSpPr txBox="1"/>
          <p:nvPr/>
        </p:nvSpPr>
        <p:spPr>
          <a:xfrm>
            <a:off x="622300" y="3368675"/>
            <a:ext cx="84839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 err="1"/>
              <a:t>Root</a:t>
            </a:r>
            <a:r>
              <a:rPr lang="es-ES" dirty="0"/>
              <a:t> Mean </a:t>
            </a:r>
            <a:r>
              <a:rPr lang="es-ES" dirty="0" err="1"/>
              <a:t>Squared</a:t>
            </a:r>
            <a:r>
              <a:rPr lang="es-ES" dirty="0"/>
              <a:t> Error (RMSE): </a:t>
            </a:r>
            <a:r>
              <a:rPr lang="es-ES" dirty="0" err="1"/>
              <a:t>it</a:t>
            </a:r>
            <a:r>
              <a:rPr lang="es-ES" dirty="0"/>
              <a:t> </a:t>
            </a:r>
            <a:r>
              <a:rPr lang="es-ES" dirty="0" err="1"/>
              <a:t>returns</a:t>
            </a:r>
            <a:r>
              <a:rPr lang="es-ES" dirty="0"/>
              <a:t> the error in the </a:t>
            </a:r>
            <a:r>
              <a:rPr lang="es-ES" dirty="0" err="1"/>
              <a:t>same</a:t>
            </a:r>
            <a:r>
              <a:rPr lang="es-ES" dirty="0"/>
              <a:t> </a:t>
            </a:r>
            <a:r>
              <a:rPr lang="es-ES" dirty="0" err="1"/>
              <a:t>units</a:t>
            </a:r>
            <a:r>
              <a:rPr lang="es-ES" dirty="0"/>
              <a:t> as the target variable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9805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63501" y="401058"/>
            <a:ext cx="7146911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METHODOLOGY: Model </a:t>
            </a:r>
            <a:r>
              <a:rPr lang="es-ES" sz="2400" spc="-5" dirty="0" err="1">
                <a:solidFill>
                  <a:schemeClr val="tx1"/>
                </a:solidFill>
              </a:rPr>
              <a:t>selection</a:t>
            </a:r>
            <a:endParaRPr lang="es-ES" sz="2400" spc="-5" dirty="0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EBE34-77B4-FE99-F8F9-34B96729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3411" y="5232262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/>
              <a:t>15</a:t>
            </a:fld>
            <a:endParaRPr lang="es-E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4E7336-2662-4ACE-B55C-C09E4050C342}"/>
              </a:ext>
            </a:extLst>
          </p:cNvPr>
          <p:cNvSpPr txBox="1"/>
          <p:nvPr/>
        </p:nvSpPr>
        <p:spPr>
          <a:xfrm>
            <a:off x="660400" y="1681113"/>
            <a:ext cx="8763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Model 1: Standard model </a:t>
            </a:r>
            <a:r>
              <a:rPr lang="es-ES" dirty="0" err="1"/>
              <a:t>predicting</a:t>
            </a:r>
            <a:r>
              <a:rPr lang="es-ES" dirty="0"/>
              <a:t> with </a:t>
            </a:r>
            <a:r>
              <a:rPr lang="es-ES" dirty="0" err="1"/>
              <a:t>RandomForest</a:t>
            </a:r>
            <a:r>
              <a:rPr lang="es-ES" dirty="0"/>
              <a:t> </a:t>
            </a:r>
            <a:r>
              <a:rPr lang="es-ES" dirty="0" err="1"/>
              <a:t>Regressor</a:t>
            </a:r>
            <a:endParaRPr lang="es-ES" dirty="0"/>
          </a:p>
          <a:p>
            <a:endParaRPr lang="es-ES" dirty="0"/>
          </a:p>
          <a:p>
            <a:r>
              <a:rPr lang="es-ES" dirty="0"/>
              <a:t>Model 2: Standard model </a:t>
            </a:r>
            <a:r>
              <a:rPr lang="es-ES" dirty="0" err="1"/>
              <a:t>predicting</a:t>
            </a:r>
            <a:r>
              <a:rPr lang="es-ES" dirty="0"/>
              <a:t> with Neural Networks </a:t>
            </a:r>
          </a:p>
          <a:p>
            <a:endParaRPr lang="es-ES" dirty="0"/>
          </a:p>
          <a:p>
            <a:r>
              <a:rPr lang="es-ES" dirty="0"/>
              <a:t>Model 3: Model </a:t>
            </a:r>
            <a:r>
              <a:rPr lang="es-ES" dirty="0" err="1"/>
              <a:t>predicting</a:t>
            </a:r>
            <a:r>
              <a:rPr lang="es-ES" dirty="0"/>
              <a:t> with Neural Networks (</a:t>
            </a:r>
            <a:r>
              <a:rPr lang="es-ES" dirty="0" err="1"/>
              <a:t>features</a:t>
            </a:r>
            <a:r>
              <a:rPr lang="es-ES" dirty="0"/>
              <a:t> </a:t>
            </a:r>
            <a:r>
              <a:rPr lang="es-ES" dirty="0" err="1"/>
              <a:t>selected</a:t>
            </a:r>
            <a:r>
              <a:rPr lang="es-ES" dirty="0"/>
              <a:t> with PCA)</a:t>
            </a:r>
          </a:p>
          <a:p>
            <a:endParaRPr lang="es-ES" dirty="0"/>
          </a:p>
          <a:p>
            <a:r>
              <a:rPr lang="es-ES" dirty="0"/>
              <a:t>Model 4: Model </a:t>
            </a:r>
            <a:r>
              <a:rPr lang="es-ES" dirty="0" err="1"/>
              <a:t>predicting</a:t>
            </a:r>
            <a:r>
              <a:rPr lang="es-ES" dirty="0"/>
              <a:t> with Neural Networks (</a:t>
            </a:r>
            <a:r>
              <a:rPr lang="es-ES" dirty="0" err="1"/>
              <a:t>features</a:t>
            </a:r>
            <a:r>
              <a:rPr lang="es-ES" dirty="0"/>
              <a:t> </a:t>
            </a:r>
            <a:r>
              <a:rPr lang="es-ES" dirty="0" err="1"/>
              <a:t>selected</a:t>
            </a:r>
            <a:r>
              <a:rPr lang="es-ES" dirty="0"/>
              <a:t> with PCA and </a:t>
            </a:r>
            <a:r>
              <a:rPr lang="es-ES" dirty="0" err="1"/>
              <a:t>expertise</a:t>
            </a:r>
            <a:r>
              <a:rPr lang="es-ES" dirty="0"/>
              <a:t> </a:t>
            </a:r>
            <a:r>
              <a:rPr lang="es-ES" dirty="0" err="1"/>
              <a:t>judgement</a:t>
            </a:r>
            <a:r>
              <a:rPr lang="es-ES" dirty="0"/>
              <a:t>)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691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5100" y="320675"/>
            <a:ext cx="70866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85CD3F-EA91-FE78-7B70-4C989DA4829F}"/>
              </a:ext>
            </a:extLst>
          </p:cNvPr>
          <p:cNvSpPr txBox="1"/>
          <p:nvPr/>
        </p:nvSpPr>
        <p:spPr>
          <a:xfrm>
            <a:off x="850900" y="752475"/>
            <a:ext cx="9067801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1. STATE OF THE ART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2. PROBLEM STATEMENT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3. METHODOLOGY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Machine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Learning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Dataset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Features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selection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Outliers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filtering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Evaluation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metrics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Model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Selection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4. RESULTS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Different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models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a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given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airport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Selected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model at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different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airports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Operational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solution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5. CONCLUSIONS AND FUTURE WORK 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E963A-0334-9FAF-2717-C86028CE2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s-ES" sz="744" b="0" i="0" u="none" strike="noStrike" kern="1200" cap="none" spc="0" normalizeH="0" baseline="0" noProof="0" smtClean="0">
                <a:ln>
                  <a:noFill/>
                </a:ln>
                <a:solidFill>
                  <a:srgbClr val="5FCBEF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s-ES" sz="744" b="0" i="0" u="none" strike="noStrike" kern="1200" cap="none" spc="0" normalizeH="0" baseline="0" noProof="0">
              <a:ln>
                <a:noFill/>
              </a:ln>
              <a:solidFill>
                <a:srgbClr val="5FCBEF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33838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816514E0-6DDE-4DA9-805F-11AA9B4EC5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8900" y="351452"/>
            <a:ext cx="82296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RESULTS: </a:t>
            </a:r>
            <a:r>
              <a:rPr lang="es-ES" sz="2400" spc="-5" dirty="0" err="1">
                <a:solidFill>
                  <a:schemeClr val="tx1"/>
                </a:solidFill>
              </a:rPr>
              <a:t>Different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models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on</a:t>
            </a:r>
            <a:r>
              <a:rPr lang="es-ES" sz="2400" spc="-5" dirty="0">
                <a:solidFill>
                  <a:schemeClr val="tx1"/>
                </a:solidFill>
              </a:rPr>
              <a:t> a </a:t>
            </a:r>
            <a:r>
              <a:rPr lang="es-ES" sz="2400" spc="-5" dirty="0" err="1">
                <a:solidFill>
                  <a:schemeClr val="tx1"/>
                </a:solidFill>
              </a:rPr>
              <a:t>given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airport</a:t>
            </a:r>
            <a:r>
              <a:rPr lang="es-ES" sz="2400" spc="-5" dirty="0">
                <a:solidFill>
                  <a:schemeClr val="tx1"/>
                </a:solidFill>
              </a:rPr>
              <a:t> (LEMD)</a:t>
            </a:r>
            <a:endParaRPr lang="es-ES" sz="2800" spc="-5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AA1583-B606-F4D0-0BF6-02B92050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17</a:t>
            </a:fld>
            <a:endParaRPr lang="es-E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D48E89-780F-5250-5633-B55352FB4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06" y="1082675"/>
            <a:ext cx="8891587" cy="184986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96C2BE-75B5-386C-79F5-1F26B10A7128}"/>
              </a:ext>
            </a:extLst>
          </p:cNvPr>
          <p:cNvSpPr txBox="1"/>
          <p:nvPr/>
        </p:nvSpPr>
        <p:spPr>
          <a:xfrm>
            <a:off x="622300" y="3444875"/>
            <a:ext cx="8305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Although</a:t>
            </a:r>
            <a:r>
              <a:rPr lang="es-ES" dirty="0"/>
              <a:t> </a:t>
            </a:r>
            <a:r>
              <a:rPr lang="es-ES" dirty="0" err="1"/>
              <a:t>Random</a:t>
            </a:r>
            <a:r>
              <a:rPr lang="es-ES" dirty="0"/>
              <a:t> Forest </a:t>
            </a:r>
            <a:r>
              <a:rPr lang="es-ES" dirty="0" err="1"/>
              <a:t>Regressor</a:t>
            </a:r>
            <a:r>
              <a:rPr lang="es-ES" dirty="0"/>
              <a:t> </a:t>
            </a:r>
            <a:r>
              <a:rPr lang="es-ES" dirty="0" err="1"/>
              <a:t>offers</a:t>
            </a:r>
            <a:r>
              <a:rPr lang="es-ES" dirty="0"/>
              <a:t> </a:t>
            </a:r>
            <a:r>
              <a:rPr lang="es-ES" dirty="0" err="1"/>
              <a:t>better</a:t>
            </a:r>
            <a:r>
              <a:rPr lang="es-ES" dirty="0"/>
              <a:t> </a:t>
            </a:r>
            <a:r>
              <a:rPr lang="es-ES" dirty="0" err="1"/>
              <a:t>results</a:t>
            </a:r>
            <a:r>
              <a:rPr lang="es-ES" dirty="0"/>
              <a:t>, the neural </a:t>
            </a:r>
            <a:r>
              <a:rPr lang="es-ES" dirty="0" err="1"/>
              <a:t>networks</a:t>
            </a:r>
            <a:r>
              <a:rPr lang="es-ES" dirty="0"/>
              <a:t> have a </a:t>
            </a:r>
            <a:r>
              <a:rPr lang="es-ES" dirty="0" err="1"/>
              <a:t>lower</a:t>
            </a:r>
            <a:r>
              <a:rPr lang="es-ES" dirty="0"/>
              <a:t> </a:t>
            </a:r>
            <a:r>
              <a:rPr lang="es-ES" dirty="0" err="1"/>
              <a:t>computational</a:t>
            </a:r>
            <a:r>
              <a:rPr lang="es-ES" dirty="0"/>
              <a:t> </a:t>
            </a:r>
            <a:r>
              <a:rPr lang="es-ES" dirty="0" err="1"/>
              <a:t>cost</a:t>
            </a:r>
            <a:r>
              <a:rPr lang="es-ES" dirty="0"/>
              <a:t>, so the last model (Neural Network with PCA and </a:t>
            </a:r>
            <a:r>
              <a:rPr lang="es-ES" dirty="0" err="1"/>
              <a:t>Expertise</a:t>
            </a:r>
            <a:r>
              <a:rPr lang="es-ES" dirty="0"/>
              <a:t> </a:t>
            </a:r>
            <a:r>
              <a:rPr lang="es-ES" dirty="0" err="1"/>
              <a:t>Judgement</a:t>
            </a:r>
            <a:r>
              <a:rPr lang="es-ES" dirty="0"/>
              <a:t>)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selected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4740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816514E0-6DDE-4DA9-805F-11AA9B4EC5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8900" y="351452"/>
            <a:ext cx="79248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RESULTS: </a:t>
            </a:r>
            <a:r>
              <a:rPr lang="es-ES" sz="2400" spc="-5" dirty="0" err="1">
                <a:solidFill>
                  <a:schemeClr val="tx1"/>
                </a:solidFill>
              </a:rPr>
              <a:t>Different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models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on</a:t>
            </a:r>
            <a:r>
              <a:rPr lang="es-ES" sz="2400" spc="-5" dirty="0">
                <a:solidFill>
                  <a:schemeClr val="tx1"/>
                </a:solidFill>
              </a:rPr>
              <a:t> a </a:t>
            </a:r>
            <a:r>
              <a:rPr lang="es-ES" sz="2400" spc="-5" dirty="0" err="1">
                <a:solidFill>
                  <a:schemeClr val="tx1"/>
                </a:solidFill>
              </a:rPr>
              <a:t>given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airport</a:t>
            </a:r>
            <a:r>
              <a:rPr lang="es-ES" sz="2400" spc="-5" dirty="0">
                <a:solidFill>
                  <a:schemeClr val="tx1"/>
                </a:solidFill>
              </a:rPr>
              <a:t> (LEMD)</a:t>
            </a:r>
            <a:endParaRPr lang="es-ES" sz="2800" spc="-5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AA1583-B606-F4D0-0BF6-02B92050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18</a:t>
            </a:fld>
            <a:endParaRPr lang="es-E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ABDAE1-4604-649C-F3A9-AF7E5CA5C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22" y="1770385"/>
            <a:ext cx="5326478" cy="23646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121204-0580-2BFD-E2C1-AB358B4A20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4552" y="1721248"/>
            <a:ext cx="4031642" cy="246287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2E9C717-CE84-B862-D9BF-93978CC489C4}"/>
              </a:ext>
            </a:extLst>
          </p:cNvPr>
          <p:cNvSpPr txBox="1"/>
          <p:nvPr/>
        </p:nvSpPr>
        <p:spPr>
          <a:xfrm>
            <a:off x="622300" y="1066194"/>
            <a:ext cx="716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Graphic</a:t>
            </a:r>
            <a:r>
              <a:rPr lang="es-ES" dirty="0"/>
              <a:t> </a:t>
            </a:r>
            <a:r>
              <a:rPr lang="es-ES" dirty="0" err="1"/>
              <a:t>results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the model </a:t>
            </a:r>
            <a:r>
              <a:rPr lang="es-ES" dirty="0" err="1"/>
              <a:t>selected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27613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816514E0-6DDE-4DA9-805F-11AA9B4EC5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8900" y="351452"/>
            <a:ext cx="71628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RESULTS: </a:t>
            </a:r>
            <a:r>
              <a:rPr lang="es-ES" sz="2400" spc="-5" dirty="0" err="1">
                <a:solidFill>
                  <a:schemeClr val="tx1"/>
                </a:solidFill>
              </a:rPr>
              <a:t>Selected</a:t>
            </a:r>
            <a:r>
              <a:rPr lang="es-ES" sz="2400" spc="-5" dirty="0">
                <a:solidFill>
                  <a:schemeClr val="tx1"/>
                </a:solidFill>
              </a:rPr>
              <a:t> model at </a:t>
            </a:r>
            <a:r>
              <a:rPr lang="es-ES" sz="2400" spc="-5" dirty="0" err="1">
                <a:solidFill>
                  <a:schemeClr val="tx1"/>
                </a:solidFill>
              </a:rPr>
              <a:t>different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airports</a:t>
            </a:r>
            <a:endParaRPr lang="es-ES" sz="2800" spc="-5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AA1583-B606-F4D0-0BF6-02B92050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19</a:t>
            </a:fld>
            <a:endParaRPr lang="es-E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23FDA6-1180-B849-FCF6-7861A73BA8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275" y="731220"/>
            <a:ext cx="6521450" cy="2785267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ADE2AB57-D387-CF90-51C8-847000A92FBF}"/>
              </a:ext>
            </a:extLst>
          </p:cNvPr>
          <p:cNvSpPr/>
          <p:nvPr/>
        </p:nvSpPr>
        <p:spPr>
          <a:xfrm>
            <a:off x="7073182" y="3069149"/>
            <a:ext cx="679905" cy="3048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750ADF-0348-CEF5-1EA7-0076B02E95A4}"/>
              </a:ext>
            </a:extLst>
          </p:cNvPr>
          <p:cNvSpPr/>
          <p:nvPr/>
        </p:nvSpPr>
        <p:spPr>
          <a:xfrm>
            <a:off x="7073182" y="2538895"/>
            <a:ext cx="864317" cy="38215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83F7A1-A2EE-7BA2-1026-D3D254170338}"/>
              </a:ext>
            </a:extLst>
          </p:cNvPr>
          <p:cNvSpPr txBox="1"/>
          <p:nvPr/>
        </p:nvSpPr>
        <p:spPr>
          <a:xfrm>
            <a:off x="625674" y="3843691"/>
            <a:ext cx="73118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In general </a:t>
            </a:r>
            <a:r>
              <a:rPr lang="es-ES" dirty="0" err="1"/>
              <a:t>good</a:t>
            </a:r>
            <a:r>
              <a:rPr lang="es-ES" dirty="0"/>
              <a:t> </a:t>
            </a:r>
            <a:r>
              <a:rPr lang="es-ES" dirty="0" err="1"/>
              <a:t>results</a:t>
            </a:r>
            <a:r>
              <a:rPr lang="es-ES" dirty="0"/>
              <a:t>, </a:t>
            </a:r>
            <a:r>
              <a:rPr lang="es-ES" dirty="0" err="1"/>
              <a:t>but</a:t>
            </a:r>
            <a:r>
              <a:rPr lang="es-ES" dirty="0"/>
              <a:t> </a:t>
            </a:r>
            <a:r>
              <a:rPr lang="es-ES" dirty="0" err="1"/>
              <a:t>outliers</a:t>
            </a:r>
            <a:r>
              <a:rPr lang="es-ES" dirty="0"/>
              <a:t> </a:t>
            </a:r>
            <a:r>
              <a:rPr lang="es-ES" dirty="0" err="1"/>
              <a:t>removal</a:t>
            </a:r>
            <a:r>
              <a:rPr lang="es-ES" dirty="0"/>
              <a:t> </a:t>
            </a:r>
            <a:r>
              <a:rPr lang="es-ES" dirty="0" err="1"/>
              <a:t>penalize</a:t>
            </a:r>
            <a:r>
              <a:rPr lang="es-ES" dirty="0"/>
              <a:t> </a:t>
            </a:r>
            <a:r>
              <a:rPr lang="es-ES" dirty="0" err="1"/>
              <a:t>small</a:t>
            </a:r>
            <a:r>
              <a:rPr lang="es-ES" dirty="0"/>
              <a:t> </a:t>
            </a:r>
            <a:r>
              <a:rPr lang="es-ES" dirty="0" err="1"/>
              <a:t>airports</a:t>
            </a:r>
            <a:r>
              <a:rPr lang="es-ES" dirty="0"/>
              <a:t>, so </a:t>
            </a:r>
            <a:r>
              <a:rPr lang="es-ES" dirty="0" err="1"/>
              <a:t>it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decided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keep</a:t>
            </a:r>
            <a:r>
              <a:rPr lang="es-ES" dirty="0"/>
              <a:t> the </a:t>
            </a:r>
            <a:r>
              <a:rPr lang="es-ES" dirty="0" err="1"/>
              <a:t>whole</a:t>
            </a:r>
            <a:r>
              <a:rPr lang="es-ES" dirty="0"/>
              <a:t> </a:t>
            </a:r>
            <a:r>
              <a:rPr lang="es-ES" dirty="0" err="1"/>
              <a:t>dataset</a:t>
            </a:r>
            <a:r>
              <a:rPr lang="es-ES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956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816514E0-6DDE-4DA9-805F-11AA9B4EC5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8900" y="351452"/>
            <a:ext cx="71628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RESULTS: </a:t>
            </a:r>
            <a:r>
              <a:rPr lang="es-ES" sz="2400" spc="-5" dirty="0" err="1">
                <a:solidFill>
                  <a:schemeClr val="tx1"/>
                </a:solidFill>
              </a:rPr>
              <a:t>Operational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solution</a:t>
            </a:r>
            <a:endParaRPr lang="es-ES" sz="2800" spc="-5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AA1583-B606-F4D0-0BF6-02B92050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20</a:t>
            </a:fld>
            <a:endParaRPr lang="es-E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D807E0-6310-818C-76C7-767413B25CE7}"/>
              </a:ext>
            </a:extLst>
          </p:cNvPr>
          <p:cNvSpPr txBox="1"/>
          <p:nvPr/>
        </p:nvSpPr>
        <p:spPr>
          <a:xfrm>
            <a:off x="686593" y="1322943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Models</a:t>
            </a:r>
            <a:r>
              <a:rPr lang="es-ES" dirty="0"/>
              <a:t> </a:t>
            </a:r>
            <a:r>
              <a:rPr lang="es-ES" dirty="0" err="1"/>
              <a:t>developed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</a:t>
            </a:r>
            <a:r>
              <a:rPr lang="es-ES" dirty="0" err="1"/>
              <a:t>specific</a:t>
            </a:r>
            <a:r>
              <a:rPr lang="es-ES" dirty="0"/>
              <a:t> Airlines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C8359C-3CE6-17BF-1FFB-3521F024BA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8099" y="1727043"/>
            <a:ext cx="6986587" cy="2088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740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816514E0-6DDE-4DA9-805F-11AA9B4EC5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8900" y="351452"/>
            <a:ext cx="71628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RESULTS: </a:t>
            </a:r>
            <a:r>
              <a:rPr lang="es-ES" sz="2400" spc="-5" dirty="0" err="1">
                <a:solidFill>
                  <a:schemeClr val="tx1"/>
                </a:solidFill>
              </a:rPr>
              <a:t>Operational</a:t>
            </a:r>
            <a:r>
              <a:rPr lang="es-ES" sz="2400" spc="-5" dirty="0">
                <a:solidFill>
                  <a:schemeClr val="tx1"/>
                </a:solidFill>
              </a:rPr>
              <a:t> </a:t>
            </a:r>
            <a:r>
              <a:rPr lang="es-ES" sz="2400" spc="-5" dirty="0" err="1">
                <a:solidFill>
                  <a:schemeClr val="tx1"/>
                </a:solidFill>
              </a:rPr>
              <a:t>solutions</a:t>
            </a:r>
            <a:endParaRPr lang="es-ES" sz="2800" spc="-5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AA1583-B606-F4D0-0BF6-02B92050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21</a:t>
            </a:fld>
            <a:endParaRPr lang="es-E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ABDAE1-4604-649C-F3A9-AF7E5CA5C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1877" y="1770385"/>
            <a:ext cx="5284968" cy="23646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121204-0580-2BFD-E2C1-AB358B4A202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54552" y="1852978"/>
            <a:ext cx="4031642" cy="21994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E48BD71-CB77-F985-0610-4A499008392C}"/>
              </a:ext>
            </a:extLst>
          </p:cNvPr>
          <p:cNvSpPr txBox="1"/>
          <p:nvPr/>
        </p:nvSpPr>
        <p:spPr>
          <a:xfrm>
            <a:off x="507573" y="1131660"/>
            <a:ext cx="716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Graphic</a:t>
            </a:r>
            <a:r>
              <a:rPr lang="es-ES" dirty="0"/>
              <a:t> </a:t>
            </a:r>
            <a:r>
              <a:rPr lang="es-ES" dirty="0" err="1"/>
              <a:t>results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Air Europa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8255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5100" y="320675"/>
            <a:ext cx="70866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85CD3F-EA91-FE78-7B70-4C989DA4829F}"/>
              </a:ext>
            </a:extLst>
          </p:cNvPr>
          <p:cNvSpPr txBox="1"/>
          <p:nvPr/>
        </p:nvSpPr>
        <p:spPr>
          <a:xfrm>
            <a:off x="850900" y="752475"/>
            <a:ext cx="9067801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1. STATE OF THE ART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2. PROBLEM STATEMENT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3. METHODOLOGY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Machine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Learning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Dataset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Features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selection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Outliers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filtering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Evaluation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metrics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Model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EBEB">
                    <a:lumMod val="75000"/>
                  </a:srgb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Selection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rgbClr val="EBEBEB">
                  <a:lumMod val="75000"/>
                </a:srgb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4. RESULTS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Different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models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a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given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airport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Selected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model at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different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airports</a:t>
            </a:r>
            <a:endParaRPr kumimoji="0" lang="es-ES" sz="2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Operational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s-E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solution</a:t>
            </a: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5. CONCLUSIONS AND FUTURE WORK 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E963A-0334-9FAF-2717-C86028CE2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s-ES" sz="744" b="0" i="0" u="none" strike="noStrike" kern="1200" cap="none" spc="0" normalizeH="0" baseline="0" noProof="0" smtClean="0">
                <a:ln>
                  <a:noFill/>
                </a:ln>
                <a:solidFill>
                  <a:srgbClr val="5FCBEF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s-ES" sz="744" b="0" i="0" u="none" strike="noStrike" kern="1200" cap="none" spc="0" normalizeH="0" baseline="0" noProof="0">
              <a:ln>
                <a:noFill/>
              </a:ln>
              <a:solidFill>
                <a:srgbClr val="5FCBEF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7874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19325963-5606-5C64-F35D-EB6AA6EABB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750" y="470193"/>
            <a:ext cx="71628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CONCLUSIONS</a:t>
            </a:r>
            <a:endParaRPr lang="es-ES" sz="2800" spc="-5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7FC087-B6DF-BBED-8DB0-261AF678218C}"/>
              </a:ext>
            </a:extLst>
          </p:cNvPr>
          <p:cNvSpPr txBox="1"/>
          <p:nvPr/>
        </p:nvSpPr>
        <p:spPr>
          <a:xfrm>
            <a:off x="698500" y="1335202"/>
            <a:ext cx="9220200" cy="258532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s-ES" dirty="0"/>
              <a:t>STRENGTHS: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Open </a:t>
            </a:r>
            <a:r>
              <a:rPr lang="es-ES" dirty="0" err="1"/>
              <a:t>source</a:t>
            </a:r>
            <a:r>
              <a:rPr lang="es-ES" dirty="0"/>
              <a:t> software (Python) </a:t>
            </a:r>
            <a:r>
              <a:rPr lang="es-ES" dirty="0">
                <a:sym typeface="Wingdings" panose="05000000000000000000" pitchFamily="2" charset="2"/>
              </a:rPr>
              <a:t> Low </a:t>
            </a:r>
            <a:r>
              <a:rPr lang="es-ES" dirty="0" err="1">
                <a:sym typeface="Wingdings" panose="05000000000000000000" pitchFamily="2" charset="2"/>
              </a:rPr>
              <a:t>costs</a:t>
            </a:r>
            <a:r>
              <a:rPr lang="es-ES" dirty="0">
                <a:sym typeface="Wingdings" panose="05000000000000000000" pitchFamily="2" charset="2"/>
              </a:rPr>
              <a:t> and </a:t>
            </a:r>
            <a:r>
              <a:rPr lang="es-ES" dirty="0" err="1">
                <a:sym typeface="Wingdings" panose="05000000000000000000" pitchFamily="2" charset="2"/>
              </a:rPr>
              <a:t>easily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to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scale</a:t>
            </a:r>
            <a:endParaRPr lang="es-ES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>
                <a:sym typeface="Wingdings" panose="05000000000000000000" pitchFamily="2" charset="2"/>
              </a:rPr>
              <a:t>Acceptable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results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from</a:t>
            </a:r>
            <a:r>
              <a:rPr lang="es-ES" dirty="0">
                <a:sym typeface="Wingdings" panose="05000000000000000000" pitchFamily="2" charset="2"/>
              </a:rPr>
              <a:t> a </a:t>
            </a:r>
            <a:r>
              <a:rPr lang="es-ES" dirty="0" err="1">
                <a:sym typeface="Wingdings" panose="05000000000000000000" pitchFamily="2" charset="2"/>
              </a:rPr>
              <a:t>numerical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point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of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view</a:t>
            </a:r>
            <a:r>
              <a:rPr lang="es-ES" dirty="0">
                <a:sym typeface="Wingdings" panose="05000000000000000000" pitchFamily="2" charset="2"/>
              </a:rPr>
              <a:t> </a:t>
            </a:r>
            <a:endParaRPr lang="es-ES" dirty="0"/>
          </a:p>
          <a:p>
            <a:pPr>
              <a:lnSpc>
                <a:spcPct val="150000"/>
              </a:lnSpc>
            </a:pPr>
            <a:endParaRPr lang="es-E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/>
          </a:p>
          <a:p>
            <a:pPr>
              <a:lnSpc>
                <a:spcPct val="150000"/>
              </a:lnSpc>
            </a:pPr>
            <a:r>
              <a:rPr lang="es-ES" dirty="0"/>
              <a:t>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BA278A-299D-72F4-85FF-8DE292B0CC8B}"/>
              </a:ext>
            </a:extLst>
          </p:cNvPr>
          <p:cNvSpPr txBox="1"/>
          <p:nvPr/>
        </p:nvSpPr>
        <p:spPr>
          <a:xfrm>
            <a:off x="695456" y="2988892"/>
            <a:ext cx="868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WEAKNESSES: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Project </a:t>
            </a:r>
            <a:r>
              <a:rPr lang="es-ES" dirty="0" err="1"/>
              <a:t>focused</a:t>
            </a:r>
            <a:r>
              <a:rPr lang="es-ES" dirty="0"/>
              <a:t> </a:t>
            </a:r>
            <a:r>
              <a:rPr lang="es-ES" dirty="0" err="1"/>
              <a:t>from</a:t>
            </a:r>
            <a:r>
              <a:rPr lang="es-ES" dirty="0"/>
              <a:t> </a:t>
            </a:r>
            <a:r>
              <a:rPr lang="es-ES" dirty="0" err="1"/>
              <a:t>an</a:t>
            </a:r>
            <a:r>
              <a:rPr lang="es-ES" dirty="0"/>
              <a:t> </a:t>
            </a:r>
            <a:r>
              <a:rPr lang="es-ES" dirty="0" err="1"/>
              <a:t>aeronautical</a:t>
            </a:r>
            <a:r>
              <a:rPr lang="es-ES" dirty="0"/>
              <a:t> </a:t>
            </a:r>
            <a:r>
              <a:rPr lang="es-ES" dirty="0" err="1"/>
              <a:t>perspective</a:t>
            </a:r>
            <a:r>
              <a:rPr lang="es-ES" dirty="0"/>
              <a:t> </a:t>
            </a:r>
            <a:r>
              <a:rPr lang="es-ES" dirty="0">
                <a:sym typeface="Wingdings" panose="05000000000000000000" pitchFamily="2" charset="2"/>
              </a:rPr>
              <a:t> </a:t>
            </a:r>
            <a:r>
              <a:rPr lang="es-ES" dirty="0" err="1">
                <a:sym typeface="Wingdings" panose="05000000000000000000" pitchFamily="2" charset="2"/>
              </a:rPr>
              <a:t>Room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for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improvement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from</a:t>
            </a:r>
            <a:r>
              <a:rPr lang="es-ES" dirty="0">
                <a:sym typeface="Wingdings" panose="05000000000000000000" pitchFamily="2" charset="2"/>
              </a:rPr>
              <a:t> a </a:t>
            </a:r>
            <a:r>
              <a:rPr lang="es-ES" dirty="0" err="1">
                <a:sym typeface="Wingdings" panose="05000000000000000000" pitchFamily="2" charset="2"/>
              </a:rPr>
              <a:t>computer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point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of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 err="1">
                <a:sym typeface="Wingdings" panose="05000000000000000000" pitchFamily="2" charset="2"/>
              </a:rPr>
              <a:t>view</a:t>
            </a:r>
            <a:r>
              <a:rPr lang="es-ES" dirty="0">
                <a:sym typeface="Wingdings" panose="05000000000000000000" pitchFamily="2" charset="2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Numerical results may not be useful from an operational point of view</a:t>
            </a:r>
            <a:r>
              <a:rPr lang="es-ES" dirty="0">
                <a:sym typeface="Wingdings" panose="05000000000000000000" pitchFamily="2" charset="2"/>
              </a:rPr>
              <a:t> 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/>
              <a:t>Confidentiality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the data </a:t>
            </a:r>
          </a:p>
          <a:p>
            <a:endParaRPr lang="es-E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02BD4-0665-9DAA-25C0-50F9E2AAD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97546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19325963-5606-5C64-F35D-EB6AA6EABB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425289"/>
            <a:ext cx="71628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0730">
              <a:lnSpc>
                <a:spcPct val="100000"/>
              </a:lnSpc>
              <a:spcBef>
                <a:spcPts val="100"/>
              </a:spcBef>
            </a:pPr>
            <a:r>
              <a:rPr lang="es-ES" sz="2400" spc="-5" dirty="0">
                <a:solidFill>
                  <a:schemeClr val="tx1"/>
                </a:solidFill>
              </a:rPr>
              <a:t>FUTURE WORK </a:t>
            </a:r>
            <a:endParaRPr lang="es-ES" sz="2800" spc="-5" dirty="0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3F279-29E4-D258-CEF4-2AF7D22E3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4431" y="5361661"/>
            <a:ext cx="565178" cy="301904"/>
          </a:xfrm>
        </p:spPr>
        <p:txBody>
          <a:bodyPr/>
          <a:lstStyle/>
          <a:p>
            <a:fld id="{B6F15528-21DE-4FAA-801E-634DDDAF4B2B}" type="slidenum">
              <a:rPr lang="es-ES" smtClean="0"/>
              <a:t>24</a:t>
            </a:fld>
            <a:endParaRPr lang="es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EC0531-93D3-9265-516D-E5BDEDD22FB2}"/>
              </a:ext>
            </a:extLst>
          </p:cNvPr>
          <p:cNvSpPr txBox="1"/>
          <p:nvPr/>
        </p:nvSpPr>
        <p:spPr>
          <a:xfrm>
            <a:off x="393700" y="1539875"/>
            <a:ext cx="92964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Development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a more </a:t>
            </a:r>
            <a:r>
              <a:rPr lang="es-ES" dirty="0" err="1"/>
              <a:t>complex</a:t>
            </a:r>
            <a:r>
              <a:rPr lang="es-ES" dirty="0"/>
              <a:t> neural </a:t>
            </a:r>
            <a:r>
              <a:rPr lang="es-ES" dirty="0" err="1"/>
              <a:t>network</a:t>
            </a:r>
            <a:r>
              <a:rPr lang="es-ES" dirty="0"/>
              <a:t>, </a:t>
            </a:r>
            <a:r>
              <a:rPr lang="es-ES" dirty="0" err="1"/>
              <a:t>optimizing</a:t>
            </a:r>
            <a:r>
              <a:rPr lang="es-ES" dirty="0"/>
              <a:t> the </a:t>
            </a:r>
            <a:r>
              <a:rPr lang="es-ES" dirty="0" err="1"/>
              <a:t>parts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project</a:t>
            </a:r>
            <a:r>
              <a:rPr lang="es-ES" dirty="0"/>
              <a:t> </a:t>
            </a:r>
            <a:r>
              <a:rPr lang="es-ES" dirty="0" err="1"/>
              <a:t>which</a:t>
            </a:r>
            <a:r>
              <a:rPr lang="es-ES" dirty="0"/>
              <a:t> are </a:t>
            </a:r>
            <a:r>
              <a:rPr lang="es-ES" dirty="0" err="1"/>
              <a:t>closely</a:t>
            </a:r>
            <a:r>
              <a:rPr lang="es-ES" dirty="0"/>
              <a:t> </a:t>
            </a:r>
            <a:r>
              <a:rPr lang="es-ES" dirty="0" err="1"/>
              <a:t>linked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computing</a:t>
            </a:r>
            <a:r>
              <a:rPr lang="es-ES" dirty="0"/>
              <a:t> (neural </a:t>
            </a:r>
            <a:r>
              <a:rPr lang="es-ES" dirty="0" err="1"/>
              <a:t>network</a:t>
            </a:r>
            <a:r>
              <a:rPr lang="es-ES" dirty="0"/>
              <a:t> </a:t>
            </a:r>
            <a:r>
              <a:rPr lang="es-ES" dirty="0" err="1"/>
              <a:t>architechture</a:t>
            </a:r>
            <a:r>
              <a:rPr lang="es-ES" dirty="0"/>
              <a:t>) </a:t>
            </a:r>
          </a:p>
          <a:p>
            <a:endParaRPr lang="es-ES" dirty="0"/>
          </a:p>
          <a:p>
            <a:endParaRPr lang="es-ES" dirty="0"/>
          </a:p>
          <a:p>
            <a:r>
              <a:rPr lang="es-ES" dirty="0"/>
              <a:t>Access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larger</a:t>
            </a:r>
            <a:r>
              <a:rPr lang="es-ES" dirty="0"/>
              <a:t> </a:t>
            </a:r>
            <a:r>
              <a:rPr lang="es-ES" dirty="0" err="1"/>
              <a:t>datasets</a:t>
            </a:r>
            <a:r>
              <a:rPr lang="es-ES" dirty="0"/>
              <a:t>, and explore free data </a:t>
            </a:r>
            <a:r>
              <a:rPr lang="es-ES" dirty="0" err="1"/>
              <a:t>sources</a:t>
            </a:r>
            <a:endParaRPr lang="es-ES" dirty="0"/>
          </a:p>
          <a:p>
            <a:endParaRPr lang="es-ES" dirty="0"/>
          </a:p>
          <a:p>
            <a:endParaRPr lang="es-ES" dirty="0"/>
          </a:p>
          <a:p>
            <a:r>
              <a:rPr lang="es-ES" dirty="0" err="1"/>
              <a:t>Development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software </a:t>
            </a:r>
            <a:r>
              <a:rPr lang="es-ES" dirty="0" err="1"/>
              <a:t>tools</a:t>
            </a:r>
            <a:r>
              <a:rPr lang="es-ES" dirty="0"/>
              <a:t> that </a:t>
            </a:r>
            <a:r>
              <a:rPr lang="es-ES" dirty="0" err="1"/>
              <a:t>allow</a:t>
            </a:r>
            <a:r>
              <a:rPr lang="es-ES" dirty="0"/>
              <a:t> the </a:t>
            </a:r>
            <a:r>
              <a:rPr lang="es-ES" dirty="0" err="1"/>
              <a:t>implementation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operational</a:t>
            </a:r>
            <a:r>
              <a:rPr lang="es-ES" dirty="0"/>
              <a:t> </a:t>
            </a:r>
            <a:r>
              <a:rPr lang="es-ES" dirty="0" err="1"/>
              <a:t>solutions</a:t>
            </a:r>
            <a:endParaRPr lang="es-ES" dirty="0"/>
          </a:p>
          <a:p>
            <a:endParaRPr lang="es-ES" dirty="0"/>
          </a:p>
          <a:p>
            <a:endParaRPr lang="es-ES" dirty="0"/>
          </a:p>
          <a:p>
            <a:r>
              <a:rPr lang="es-ES" dirty="0" err="1"/>
              <a:t>Implementation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similar </a:t>
            </a:r>
            <a:r>
              <a:rPr lang="es-ES" dirty="0" err="1"/>
              <a:t>models</a:t>
            </a:r>
            <a:r>
              <a:rPr lang="es-ES" dirty="0"/>
              <a:t> </a:t>
            </a:r>
            <a:r>
              <a:rPr lang="es-ES" dirty="0" err="1"/>
              <a:t>worldwide</a:t>
            </a:r>
            <a:r>
              <a:rPr lang="es-ES" dirty="0"/>
              <a:t>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35585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A2218-A36A-4CA0-B448-C195F8ED2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00" y="1481058"/>
            <a:ext cx="7924800" cy="2708434"/>
          </a:xfrm>
        </p:spPr>
        <p:txBody>
          <a:bodyPr/>
          <a:lstStyle/>
          <a:p>
            <a:pPr algn="ctr"/>
            <a:r>
              <a:rPr lang="es-ES" dirty="0" err="1"/>
              <a:t>Thanks</a:t>
            </a:r>
            <a:r>
              <a:rPr lang="es-ES" dirty="0"/>
              <a:t> for </a:t>
            </a:r>
            <a:r>
              <a:rPr lang="es-ES" dirty="0" err="1"/>
              <a:t>your</a:t>
            </a:r>
            <a:r>
              <a:rPr lang="es-ES" dirty="0"/>
              <a:t> </a:t>
            </a:r>
            <a:r>
              <a:rPr lang="es-ES" dirty="0" err="1"/>
              <a:t>attention</a:t>
            </a:r>
            <a:br>
              <a:rPr lang="es-ES" dirty="0"/>
            </a:br>
            <a:br>
              <a:rPr lang="es-ES" dirty="0"/>
            </a:br>
            <a:r>
              <a:rPr lang="es-ES" dirty="0" err="1"/>
              <a:t>Questions</a:t>
            </a:r>
            <a:r>
              <a:rPr lang="es-ES" dirty="0"/>
              <a:t>?  </a:t>
            </a:r>
            <a:br>
              <a:rPr lang="es-ES" dirty="0"/>
            </a:b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75631C-460D-93A4-3CEC-0F5104954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38506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3165</TotalTime>
  <Words>1297</Words>
  <Application>Microsoft Office PowerPoint</Application>
  <PresentationFormat>Custom</PresentationFormat>
  <Paragraphs>259</Paragraphs>
  <Slides>25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Arial</vt:lpstr>
      <vt:lpstr>Calibri</vt:lpstr>
      <vt:lpstr>Cambria Math</vt:lpstr>
      <vt:lpstr>Trebuchet MS</vt:lpstr>
      <vt:lpstr>Wingdings</vt:lpstr>
      <vt:lpstr>Wingdings 3</vt:lpstr>
      <vt:lpstr>Facet</vt:lpstr>
      <vt:lpstr>A MACHINE LEARNING APPROACH TO IMPROVE THE PREDICTION OF AIRCRAFT TURNAROUND TIME</vt:lpstr>
      <vt:lpstr>MOTIVATION OF THE RESEARCH</vt:lpstr>
      <vt:lpstr>SUMMARY</vt:lpstr>
      <vt:lpstr>STATE OF THE ART:</vt:lpstr>
      <vt:lpstr>STATE OF THE ART:</vt:lpstr>
      <vt:lpstr>SUMMARY</vt:lpstr>
      <vt:lpstr>PROBLEM STATEMENT</vt:lpstr>
      <vt:lpstr>SUMMARY</vt:lpstr>
      <vt:lpstr>METHODOLOGY: Machine Learning process </vt:lpstr>
      <vt:lpstr>METHODOLOGY: Dataset</vt:lpstr>
      <vt:lpstr>METHODOLOGY: Feature selection</vt:lpstr>
      <vt:lpstr>METHODOLOGY: Outliers filtering</vt:lpstr>
      <vt:lpstr>METHODOLOGY: Evaluation metrics (I)</vt:lpstr>
      <vt:lpstr>METHODOLOGY: Evaluation metrics (II)</vt:lpstr>
      <vt:lpstr>METHODOLOGY: Model selection</vt:lpstr>
      <vt:lpstr>SUMMARY</vt:lpstr>
      <vt:lpstr>RESULTS: Different models on a given airport (LEMD)</vt:lpstr>
      <vt:lpstr>RESULTS: Different models on a given airport (LEMD)</vt:lpstr>
      <vt:lpstr>RESULTS: Selected model at different airports</vt:lpstr>
      <vt:lpstr>RESULTS: Operational solution</vt:lpstr>
      <vt:lpstr>RESULTS: Operational solutions</vt:lpstr>
      <vt:lpstr>SUMMARY</vt:lpstr>
      <vt:lpstr>CONCLUSIONS</vt:lpstr>
      <vt:lpstr>FUTURE WORK </vt:lpstr>
      <vt:lpstr>Thanks for your attention  Questions? 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WP4: Extreme Weather Prediction</dc:title>
  <dc:creator>alvaro reviriego moreno</dc:creator>
  <cp:lastModifiedBy>alvaro reviriego moreno</cp:lastModifiedBy>
  <cp:revision>49</cp:revision>
  <dcterms:created xsi:type="dcterms:W3CDTF">2021-11-16T20:02:52Z</dcterms:created>
  <dcterms:modified xsi:type="dcterms:W3CDTF">2024-10-07T19:43:28Z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2021-09-30T00:00:00Z</vt:filetime>
  </property>
  <property fmtid="{D5CDD505-2E9C-101B-9397-08002B2CF9AE}" pid="3" name="Creator">
    <vt:lpwstr>Impress</vt:lpwstr>
  </property>
  <property fmtid="{D5CDD505-2E9C-101B-9397-08002B2CF9AE}" pid="4" name="LastSaved">
    <vt:filetime>2021-11-16T00:00:00Z</vt:filetime>
  </property>
</Properties>
</file>