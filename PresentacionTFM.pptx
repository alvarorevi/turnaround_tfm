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398" r:id="rId1"/>
  </p:sldMasterIdLst>
  <p:notesMasterIdLst>
    <p:notesMasterId r:id="rId23"/>
  </p:notesMasterIdLst>
  <p:sldIdLst>
    <p:sldId id="308" r:id="rId2"/>
    <p:sldId id="307" r:id="rId3"/>
    <p:sldId id="257" r:id="rId4"/>
    <p:sldId id="316" r:id="rId5"/>
    <p:sldId id="317" r:id="rId6"/>
    <p:sldId id="262" r:id="rId7"/>
    <p:sldId id="318" r:id="rId8"/>
    <p:sldId id="319" r:id="rId9"/>
    <p:sldId id="267" r:id="rId10"/>
    <p:sldId id="320" r:id="rId11"/>
    <p:sldId id="321" r:id="rId12"/>
    <p:sldId id="322" r:id="rId13"/>
    <p:sldId id="323" r:id="rId14"/>
    <p:sldId id="324" r:id="rId15"/>
    <p:sldId id="278" r:id="rId16"/>
    <p:sldId id="325" r:id="rId17"/>
    <p:sldId id="326" r:id="rId18"/>
    <p:sldId id="327" r:id="rId19"/>
    <p:sldId id="306" r:id="rId20"/>
    <p:sldId id="314" r:id="rId21"/>
    <p:sldId id="276" r:id="rId22"/>
  </p:sldIdLst>
  <p:sldSz cx="10083800" cy="5670550"/>
  <p:notesSz cx="10083800" cy="56705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3"/>
  </p:normalViewPr>
  <p:slideViewPr>
    <p:cSldViewPr>
      <p:cViewPr varScale="1">
        <p:scale>
          <a:sx n="127" d="100"/>
          <a:sy n="127" d="100"/>
        </p:scale>
        <p:origin x="79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17:25:04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70388" cy="284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11825" y="0"/>
            <a:ext cx="4370388" cy="284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458A7-E304-4B75-B616-1047E626D4A8}" type="datetimeFigureOut">
              <a:rPr lang="es-ES" smtClean="0"/>
              <a:t>25/09/2024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709613"/>
            <a:ext cx="3400425" cy="1912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8063" y="2728913"/>
            <a:ext cx="8067675" cy="2233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386388"/>
            <a:ext cx="4370388" cy="2841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11825" y="5386388"/>
            <a:ext cx="4370388" cy="2841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3290F-0946-4586-A17A-5C18B3FE554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983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3290F-0946-4586-A17A-5C18B3FE554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8272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3290F-0946-4586-A17A-5C18B3FE554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682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3290F-0946-4586-A17A-5C18B3FE554D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52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3290F-0946-4586-A17A-5C18B3FE554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17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3290F-0946-4586-A17A-5C18B3FE554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18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3290F-0946-4586-A17A-5C18B3FE554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438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3290F-0946-4586-A17A-5C18B3FE554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582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7001"/>
            <a:ext cx="10083800" cy="5677551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70" y="1988193"/>
            <a:ext cx="6423903" cy="1361248"/>
          </a:xfrm>
        </p:spPr>
        <p:txBody>
          <a:bodyPr anchor="b">
            <a:noAutofit/>
          </a:bodyPr>
          <a:lstStyle>
            <a:lvl1pPr algn="r">
              <a:defRPr sz="4465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70" y="3349439"/>
            <a:ext cx="6423903" cy="906973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80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6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4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2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90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83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64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44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7A90-1C96-4A7B-A2DE-1A0322E79ED6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8997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D5B9-0737-4392-8C51-820A4A8DE358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4471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212" y="2233217"/>
            <a:ext cx="7110161" cy="1510312"/>
          </a:xfrm>
        </p:spPr>
        <p:txBody>
          <a:bodyPr anchor="b"/>
          <a:lstStyle>
            <a:lvl1pPr algn="l">
              <a:defRPr sz="33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212" y="3743529"/>
            <a:ext cx="7110161" cy="711423"/>
          </a:xfrm>
        </p:spPr>
        <p:txBody>
          <a:bodyPr anchor="t"/>
          <a:lstStyle>
            <a:lvl1pPr marL="0" indent="0" algn="l">
              <a:buNone/>
              <a:defRPr sz="165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8059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EB67B-0400-46DD-8D0E-0C38D8553287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083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212" y="1786487"/>
            <a:ext cx="3460546" cy="3208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9829" y="1786488"/>
            <a:ext cx="3460545" cy="3208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9949-E915-4358-9CFB-B9A3D11A8E12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9633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898" y="1786813"/>
            <a:ext cx="3461859" cy="476483"/>
          </a:xfrm>
        </p:spPr>
        <p:txBody>
          <a:bodyPr anchor="b">
            <a:noAutofit/>
          </a:bodyPr>
          <a:lstStyle>
            <a:lvl1pPr marL="0" indent="0">
              <a:buNone/>
              <a:defRPr sz="1985" b="0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898" y="2263297"/>
            <a:ext cx="3461859" cy="273201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8517" y="1786813"/>
            <a:ext cx="3461855" cy="476483"/>
          </a:xfrm>
        </p:spPr>
        <p:txBody>
          <a:bodyPr anchor="b">
            <a:noAutofit/>
          </a:bodyPr>
          <a:lstStyle>
            <a:lvl1pPr marL="0" indent="0">
              <a:buNone/>
              <a:defRPr sz="1985" b="0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8518" y="2263297"/>
            <a:ext cx="3461854" cy="273201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1C35-EBA9-476E-A6BD-EFE746D8B54E}" type="datetime1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222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212" y="504049"/>
            <a:ext cx="7110161" cy="10921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14DBE-3B32-42C4-9A7D-32D6549469D7}" type="datetime1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6097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A6E8-6033-494C-A4C1-C587DEBA70E0}" type="datetime1">
              <a:rPr lang="en-US" smtClean="0"/>
              <a:t>9/25/2024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529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212" y="1239123"/>
            <a:ext cx="3188016" cy="1057102"/>
          </a:xfrm>
        </p:spPr>
        <p:txBody>
          <a:bodyPr anchor="b">
            <a:normAutofit/>
          </a:bodyPr>
          <a:lstStyle>
            <a:lvl1pPr>
              <a:defRPr sz="16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298" y="425766"/>
            <a:ext cx="3733075" cy="4569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212" y="2296225"/>
            <a:ext cx="3188016" cy="2136956"/>
          </a:xfrm>
        </p:spPr>
        <p:txBody>
          <a:bodyPr>
            <a:normAutofit/>
          </a:bodyPr>
          <a:lstStyle>
            <a:lvl1pPr marL="0" indent="0">
              <a:buNone/>
              <a:defRPr sz="1158"/>
            </a:lvl1pPr>
            <a:lvl2pPr marL="377945" indent="0">
              <a:buNone/>
              <a:defRPr sz="1158"/>
            </a:lvl2pPr>
            <a:lvl3pPr marL="755891" indent="0">
              <a:buNone/>
              <a:defRPr sz="992"/>
            </a:lvl3pPr>
            <a:lvl4pPr marL="1133836" indent="0">
              <a:buNone/>
              <a:defRPr sz="827"/>
            </a:lvl4pPr>
            <a:lvl5pPr marL="1511781" indent="0">
              <a:buNone/>
              <a:defRPr sz="827"/>
            </a:lvl5pPr>
            <a:lvl6pPr marL="1889726" indent="0">
              <a:buNone/>
              <a:defRPr sz="827"/>
            </a:lvl6pPr>
            <a:lvl7pPr marL="2267672" indent="0">
              <a:buNone/>
              <a:defRPr sz="827"/>
            </a:lvl7pPr>
            <a:lvl8pPr marL="2645617" indent="0">
              <a:buNone/>
              <a:defRPr sz="827"/>
            </a:lvl8pPr>
            <a:lvl9pPr marL="3023562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6737C-323B-4454-A910-2666B193A3C1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3785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212" y="3969385"/>
            <a:ext cx="7110160" cy="468608"/>
          </a:xfrm>
        </p:spPr>
        <p:txBody>
          <a:bodyPr anchor="b">
            <a:normAutofit/>
          </a:bodyPr>
          <a:lstStyle>
            <a:lvl1pPr algn="l">
              <a:defRPr sz="198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0212" y="504049"/>
            <a:ext cx="7110161" cy="3179839"/>
          </a:xfrm>
        </p:spPr>
        <p:txBody>
          <a:bodyPr anchor="t">
            <a:normAutofit/>
          </a:bodyPr>
          <a:lstStyle>
            <a:lvl1pPr marL="0" indent="0" algn="ctr">
              <a:buNone/>
              <a:defRPr sz="1323"/>
            </a:lvl1pPr>
            <a:lvl2pPr marL="378059" indent="0">
              <a:buNone/>
              <a:defRPr sz="1323"/>
            </a:lvl2pPr>
            <a:lvl3pPr marL="756117" indent="0">
              <a:buNone/>
              <a:defRPr sz="1323"/>
            </a:lvl3pPr>
            <a:lvl4pPr marL="1134176" indent="0">
              <a:buNone/>
              <a:defRPr sz="1323"/>
            </a:lvl4pPr>
            <a:lvl5pPr marL="1512235" indent="0">
              <a:buNone/>
              <a:defRPr sz="1323"/>
            </a:lvl5pPr>
            <a:lvl6pPr marL="1890293" indent="0">
              <a:buNone/>
              <a:defRPr sz="1323"/>
            </a:lvl6pPr>
            <a:lvl7pPr marL="2268352" indent="0">
              <a:buNone/>
              <a:defRPr sz="1323"/>
            </a:lvl7pPr>
            <a:lvl8pPr marL="2646411" indent="0">
              <a:buNone/>
              <a:defRPr sz="1323"/>
            </a:lvl8pPr>
            <a:lvl9pPr marL="3024469" indent="0">
              <a:buNone/>
              <a:defRPr sz="132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212" y="4437993"/>
            <a:ext cx="7110160" cy="557318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8059" indent="0">
              <a:buNone/>
              <a:defRPr sz="992"/>
            </a:lvl2pPr>
            <a:lvl3pPr marL="756117" indent="0">
              <a:buNone/>
              <a:defRPr sz="827"/>
            </a:lvl3pPr>
            <a:lvl4pPr marL="1134176" indent="0">
              <a:buNone/>
              <a:defRPr sz="744"/>
            </a:lvl4pPr>
            <a:lvl5pPr marL="1512235" indent="0">
              <a:buNone/>
              <a:defRPr sz="744"/>
            </a:lvl5pPr>
            <a:lvl6pPr marL="1890293" indent="0">
              <a:buNone/>
              <a:defRPr sz="744"/>
            </a:lvl6pPr>
            <a:lvl7pPr marL="2268352" indent="0">
              <a:buNone/>
              <a:defRPr sz="744"/>
            </a:lvl7pPr>
            <a:lvl8pPr marL="2646411" indent="0">
              <a:buNone/>
              <a:defRPr sz="744"/>
            </a:lvl8pPr>
            <a:lvl9pPr marL="3024469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7D5A7-FA26-4DD7-8A2C-904CC6C9264F}" type="datetime1">
              <a:rPr lang="en-US" smtClean="0"/>
              <a:t>9/25/2024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1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212" y="504049"/>
            <a:ext cx="7110161" cy="2814273"/>
          </a:xfrm>
        </p:spPr>
        <p:txBody>
          <a:bodyPr anchor="ctr">
            <a:normAutofit/>
          </a:bodyPr>
          <a:lstStyle>
            <a:lvl1pPr algn="l">
              <a:defRPr sz="363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212" y="3696358"/>
            <a:ext cx="7110161" cy="1298953"/>
          </a:xfrm>
        </p:spPr>
        <p:txBody>
          <a:bodyPr anchor="ctr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8059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4379-73F4-4B9F-B6DB-BAD974D74531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566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291" y="504049"/>
            <a:ext cx="6694523" cy="2499242"/>
          </a:xfrm>
        </p:spPr>
        <p:txBody>
          <a:bodyPr anchor="ctr">
            <a:normAutofit/>
          </a:bodyPr>
          <a:lstStyle>
            <a:lvl1pPr algn="l">
              <a:defRPr sz="363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29911" y="3003291"/>
            <a:ext cx="5975283" cy="315031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2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8059" indent="0">
              <a:buFontTx/>
              <a:buNone/>
              <a:defRPr/>
            </a:lvl2pPr>
            <a:lvl3pPr marL="756117" indent="0">
              <a:buFontTx/>
              <a:buNone/>
              <a:defRPr/>
            </a:lvl3pPr>
            <a:lvl4pPr marL="1134176" indent="0">
              <a:buFontTx/>
              <a:buNone/>
              <a:defRPr/>
            </a:lvl4pPr>
            <a:lvl5pPr marL="151223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212" y="3696358"/>
            <a:ext cx="7110161" cy="1298953"/>
          </a:xfrm>
        </p:spPr>
        <p:txBody>
          <a:bodyPr anchor="ctr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8059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86109-C2E4-4AA5-9BA6-6F3818586194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448172" y="653526"/>
            <a:ext cx="504190" cy="483523"/>
          </a:xfrm>
          <a:prstGeom prst="rect">
            <a:avLst/>
          </a:prstGeom>
        </p:spPr>
        <p:txBody>
          <a:bodyPr vert="horz" lIns="75607" tIns="37804" rIns="75607" bIns="37804" rtlCol="0" anchor="ctr">
            <a:noAutofit/>
          </a:bodyPr>
          <a:lstStyle/>
          <a:p>
            <a:pPr lvl="0"/>
            <a:r>
              <a:rPr lang="en-US" sz="661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5261" y="2386754"/>
            <a:ext cx="504190" cy="483523"/>
          </a:xfrm>
          <a:prstGeom prst="rect">
            <a:avLst/>
          </a:prstGeom>
        </p:spPr>
        <p:txBody>
          <a:bodyPr vert="horz" lIns="75607" tIns="37804" rIns="75607" bIns="37804" rtlCol="0" anchor="ctr">
            <a:noAutofit/>
          </a:bodyPr>
          <a:lstStyle/>
          <a:p>
            <a:pPr lvl="0"/>
            <a:r>
              <a:rPr lang="en-US" sz="661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4537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212" y="1597468"/>
            <a:ext cx="7110161" cy="2146061"/>
          </a:xfrm>
        </p:spPr>
        <p:txBody>
          <a:bodyPr anchor="b">
            <a:normAutofit/>
          </a:bodyPr>
          <a:lstStyle>
            <a:lvl1pPr algn="l">
              <a:defRPr sz="363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212" y="3743529"/>
            <a:ext cx="7110161" cy="1251783"/>
          </a:xfrm>
        </p:spPr>
        <p:txBody>
          <a:bodyPr anchor="t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8059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CBFDB-4AB9-40E3-B35E-3A86B7BBF175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9414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291" y="504049"/>
            <a:ext cx="6694523" cy="2499242"/>
          </a:xfrm>
        </p:spPr>
        <p:txBody>
          <a:bodyPr anchor="ctr">
            <a:normAutofit/>
          </a:bodyPr>
          <a:lstStyle>
            <a:lvl1pPr algn="l">
              <a:defRPr sz="363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210" y="3318322"/>
            <a:ext cx="7110162" cy="4252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8059" indent="0">
              <a:buFontTx/>
              <a:buNone/>
              <a:defRPr/>
            </a:lvl2pPr>
            <a:lvl3pPr marL="756117" indent="0">
              <a:buFontTx/>
              <a:buNone/>
              <a:defRPr/>
            </a:lvl3pPr>
            <a:lvl4pPr marL="1134176" indent="0">
              <a:buFontTx/>
              <a:buNone/>
              <a:defRPr/>
            </a:lvl4pPr>
            <a:lvl5pPr marL="151223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212" y="3743529"/>
            <a:ext cx="7110161" cy="1251783"/>
          </a:xfrm>
        </p:spPr>
        <p:txBody>
          <a:bodyPr anchor="t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8059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720A-B673-4F01-8C62-15394A4F50D4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448172" y="653526"/>
            <a:ext cx="504190" cy="483523"/>
          </a:xfrm>
          <a:prstGeom prst="rect">
            <a:avLst/>
          </a:prstGeom>
        </p:spPr>
        <p:txBody>
          <a:bodyPr vert="horz" lIns="75607" tIns="37804" rIns="75607" bIns="37804" rtlCol="0" anchor="ctr">
            <a:noAutofit/>
          </a:bodyPr>
          <a:lstStyle/>
          <a:p>
            <a:pPr lvl="0"/>
            <a:r>
              <a:rPr lang="en-US" sz="661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5261" y="2386754"/>
            <a:ext cx="504190" cy="483523"/>
          </a:xfrm>
          <a:prstGeom prst="rect">
            <a:avLst/>
          </a:prstGeom>
        </p:spPr>
        <p:txBody>
          <a:bodyPr vert="horz" lIns="75607" tIns="37804" rIns="75607" bIns="37804" rtlCol="0" anchor="ctr">
            <a:noAutofit/>
          </a:bodyPr>
          <a:lstStyle/>
          <a:p>
            <a:pPr lvl="0"/>
            <a:r>
              <a:rPr lang="en-US" sz="661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6360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213" y="504049"/>
            <a:ext cx="7103160" cy="2499242"/>
          </a:xfrm>
        </p:spPr>
        <p:txBody>
          <a:bodyPr anchor="ctr">
            <a:normAutofit/>
          </a:bodyPr>
          <a:lstStyle>
            <a:lvl1pPr algn="l">
              <a:defRPr sz="363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0210" y="3318322"/>
            <a:ext cx="7110162" cy="4252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985">
                <a:solidFill>
                  <a:schemeClr val="accent1"/>
                </a:solidFill>
              </a:defRPr>
            </a:lvl1pPr>
            <a:lvl2pPr marL="378059" indent="0">
              <a:buFontTx/>
              <a:buNone/>
              <a:defRPr/>
            </a:lvl2pPr>
            <a:lvl3pPr marL="756117" indent="0">
              <a:buFontTx/>
              <a:buNone/>
              <a:defRPr/>
            </a:lvl3pPr>
            <a:lvl4pPr marL="1134176" indent="0">
              <a:buFontTx/>
              <a:buNone/>
              <a:defRPr/>
            </a:lvl4pPr>
            <a:lvl5pPr marL="151223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212" y="3743529"/>
            <a:ext cx="7110161" cy="1251783"/>
          </a:xfrm>
        </p:spPr>
        <p:txBody>
          <a:bodyPr anchor="t">
            <a:normAutofit/>
          </a:bodyPr>
          <a:lstStyle>
            <a:lvl1pPr marL="0" indent="0" algn="l">
              <a:buNone/>
              <a:defRPr sz="148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78059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1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A88BA-31A0-4281-B020-7467A2EE55A2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4670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6FA2-D266-478B-9183-AA6AF2952AE9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0735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930" y="504048"/>
            <a:ext cx="1079131" cy="434217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0213" y="504049"/>
            <a:ext cx="5839332" cy="43421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54608-0581-4C0A-89AF-0AF0E4C4FCD4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3464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7001"/>
            <a:ext cx="10083800" cy="567755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0212" y="504049"/>
            <a:ext cx="7110161" cy="10921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212" y="1786488"/>
            <a:ext cx="7110161" cy="3208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59246" y="4995312"/>
            <a:ext cx="754250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CE875-D5D3-4316-BD99-14E07E157ED4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0212" y="4995312"/>
            <a:ext cx="5208650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630"/>
              </a:lnSpc>
            </a:pPr>
            <a:r>
              <a:rPr lang="es-ES" spc="-5"/>
              <a:t>ALARM </a:t>
            </a:r>
            <a:r>
              <a:rPr lang="es-ES" spc="-10"/>
              <a:t>WP4 </a:t>
            </a:r>
            <a:r>
              <a:rPr lang="es-ES" spc="-5"/>
              <a:t>UC3M</a:t>
            </a:r>
            <a:r>
              <a:rPr lang="es-ES" spc="-95"/>
              <a:t> </a:t>
            </a:r>
            <a:r>
              <a:rPr lang="es-ES" spc="-25"/>
              <a:t>Team</a:t>
            </a:r>
            <a:endParaRPr lang="es-E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5195" y="4995312"/>
            <a:ext cx="565178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288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9" r:id="rId1"/>
    <p:sldLayoutId id="2147484400" r:id="rId2"/>
    <p:sldLayoutId id="2147484401" r:id="rId3"/>
    <p:sldLayoutId id="2147484402" r:id="rId4"/>
    <p:sldLayoutId id="2147484403" r:id="rId5"/>
    <p:sldLayoutId id="2147484404" r:id="rId6"/>
    <p:sldLayoutId id="2147484405" r:id="rId7"/>
    <p:sldLayoutId id="2147484406" r:id="rId8"/>
    <p:sldLayoutId id="2147484407" r:id="rId9"/>
    <p:sldLayoutId id="2147484408" r:id="rId10"/>
    <p:sldLayoutId id="2147484409" r:id="rId11"/>
    <p:sldLayoutId id="2147484410" r:id="rId12"/>
    <p:sldLayoutId id="2147484411" r:id="rId13"/>
    <p:sldLayoutId id="2147484412" r:id="rId14"/>
    <p:sldLayoutId id="2147484413" r:id="rId15"/>
    <p:sldLayoutId id="2147484414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378059" rtl="0" eaLnBrk="1" latinLnBrk="0" hangingPunct="1">
        <a:spcBef>
          <a:spcPct val="0"/>
        </a:spcBef>
        <a:buNone/>
        <a:defRPr sz="2977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544" indent="-283544" algn="l" defTabSz="378059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14345" indent="-236287" algn="l" defTabSz="378059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45147" indent="-189029" algn="l" defTabSz="378059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23205" indent="-189029" algn="l" defTabSz="378059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701264" indent="-189029" algn="l" defTabSz="378059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079323" indent="-189029" algn="l" defTabSz="378059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457381" indent="-189029" algn="l" defTabSz="378059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835440" indent="-189029" algn="l" defTabSz="378059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213499" indent="-189029" algn="l" defTabSz="378059" rtl="0" eaLnBrk="1" latinLnBrk="0" hangingPunct="1">
        <a:spcBef>
          <a:spcPts val="827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8059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378059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378059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378059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378059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378059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378059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378059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378059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9898" y="1822425"/>
            <a:ext cx="9144000" cy="122255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MACHINE LEARNING APPROACH TO IMPROVE THE PREDICTION OF AIRCRAFT TURNAROUND TIME</a:t>
            </a:r>
            <a:endParaRPr lang="en-US" sz="4000" spc="-50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2844" y="3651520"/>
            <a:ext cx="4678108" cy="1606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25000"/>
            </a:pPr>
            <a:r>
              <a:rPr lang="en-US" spc="-5" dirty="0"/>
              <a:t>            </a:t>
            </a:r>
            <a:r>
              <a:rPr lang="en-US" sz="2000" spc="-5" dirty="0"/>
              <a:t>Álvaro Reviriego Moreno</a:t>
            </a:r>
          </a:p>
          <a:p>
            <a:pPr algn="just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25000"/>
            </a:pPr>
            <a:r>
              <a:rPr lang="en-US" sz="2000" spc="-5" dirty="0"/>
              <a:t>Tutor: Rubén Rodríguez </a:t>
            </a:r>
            <a:r>
              <a:rPr lang="en-US" sz="2000" spc="-5" dirty="0" err="1"/>
              <a:t>Rodríguez</a:t>
            </a:r>
            <a:endParaRPr lang="en-US" sz="2000" spc="-5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8E92E10-B28E-6D2E-A912-59C8FD348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91" y="471649"/>
            <a:ext cx="7832213" cy="78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CCF19-8CCB-700A-A5C3-C0CD10C0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9367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00" y="324895"/>
            <a:ext cx="7086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MOTIVATION OF THE RESEARCH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75079-EFCE-4718-9D61-45C70A5EE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747204"/>
            <a:ext cx="8751404" cy="19002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E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0" i="0" dirty="0"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D08624F-3207-9BBC-4590-932CC2620F3F}"/>
                  </a:ext>
                </a:extLst>
              </p14:cNvPr>
              <p14:cNvContentPartPr/>
              <p14:nvPr/>
            </p14:nvContentPartPr>
            <p14:xfrm>
              <a:off x="1856970" y="2342835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D08624F-3207-9BBC-4590-932CC2620F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47970" y="233383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3470949-63D7-9F88-548D-ABC41B64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0822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00" y="320675"/>
            <a:ext cx="7086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5CD3F-EA91-FE78-7B70-4C989DA4829F}"/>
              </a:ext>
            </a:extLst>
          </p:cNvPr>
          <p:cNvSpPr txBox="1"/>
          <p:nvPr/>
        </p:nvSpPr>
        <p:spPr>
          <a:xfrm>
            <a:off x="850900" y="752475"/>
            <a:ext cx="906780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 </a:t>
            </a:r>
          </a:p>
          <a:p>
            <a:r>
              <a:rPr lang="es-ES" sz="2000" dirty="0"/>
              <a:t>1. STATE OF THE ART </a:t>
            </a: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2. PROBLEM STATEMENT</a:t>
            </a: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3. METHODOLOGY </a:t>
            </a: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	Machine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Learning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Dataset</a:t>
            </a:r>
            <a:endParaRPr lang="es-E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Features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selection</a:t>
            </a:r>
            <a:endParaRPr lang="es-E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Outliers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filtering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	</a:t>
            </a: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Evaluation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metrics</a:t>
            </a:r>
            <a:endParaRPr lang="es-E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	Model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Selection</a:t>
            </a:r>
            <a:endParaRPr lang="es-E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4. RESULTS </a:t>
            </a: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Different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models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on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a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given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airport</a:t>
            </a:r>
            <a:endParaRPr lang="es-E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Selected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model at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different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airports</a:t>
            </a:r>
            <a:endParaRPr lang="es-E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	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Operational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bg2">
                    <a:lumMod val="75000"/>
                  </a:schemeClr>
                </a:solidFill>
              </a:rPr>
              <a:t>solution</a:t>
            </a:r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5. CONCLUSIONS AND FUTURE WORK </a:t>
            </a:r>
            <a:r>
              <a:rPr lang="es-ES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r>
              <a:rPr lang="es-ES" dirty="0"/>
              <a:t>	</a:t>
            </a:r>
          </a:p>
          <a:p>
            <a:r>
              <a:rPr lang="es-ES" dirty="0"/>
              <a:t>	</a:t>
            </a:r>
          </a:p>
          <a:p>
            <a:r>
              <a:rPr lang="es-ES" dirty="0"/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E963A-0334-9FAF-2717-C86028CE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15900" y="320675"/>
            <a:ext cx="8458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STATE OF THE ART: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1F8B4-C49D-A1F5-62D2-AA67FB05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783" y="4904598"/>
            <a:ext cx="565178" cy="301904"/>
          </a:xfrm>
        </p:spPr>
        <p:txBody>
          <a:bodyPr/>
          <a:lstStyle/>
          <a:p>
            <a:fld id="{B6F15528-21DE-4FAA-801E-634DDDAF4B2B}" type="slidenum">
              <a:rPr lang="es-ES" smtClean="0">
                <a:solidFill>
                  <a:schemeClr val="bg1"/>
                </a:solidFill>
              </a:rPr>
              <a:t>4</a:t>
            </a:fld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790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00" y="320675"/>
            <a:ext cx="7086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5CD3F-EA91-FE78-7B70-4C989DA4829F}"/>
              </a:ext>
            </a:extLst>
          </p:cNvPr>
          <p:cNvSpPr txBox="1"/>
          <p:nvPr/>
        </p:nvSpPr>
        <p:spPr>
          <a:xfrm>
            <a:off x="850900" y="752475"/>
            <a:ext cx="906780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1. STATE OF THE ART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2. PROBLEM STATEMENT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3. METHODOLOGY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Machine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Learning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Dataset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Features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selection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Outliers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filtering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Evaluation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metrics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Model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Selection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4. RESULTS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Different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models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a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given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airport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Selected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model at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different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airports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Operational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solution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5. CONCLUSIONS AND FUTURE WORK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E963A-0334-9FAF-2717-C86028CE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s-ES" sz="744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744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407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15900" y="320675"/>
            <a:ext cx="381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PROBLEM STATEMENT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1F8B4-C49D-A1F5-62D2-AA67FB05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05625" y="5221746"/>
            <a:ext cx="565178" cy="301904"/>
          </a:xfrm>
        </p:spPr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5012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00" y="320675"/>
            <a:ext cx="7086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5CD3F-EA91-FE78-7B70-4C989DA4829F}"/>
              </a:ext>
            </a:extLst>
          </p:cNvPr>
          <p:cNvSpPr txBox="1"/>
          <p:nvPr/>
        </p:nvSpPr>
        <p:spPr>
          <a:xfrm>
            <a:off x="850900" y="752475"/>
            <a:ext cx="906780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1. STATE OF THE ART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2. PROBLEM STATEMENT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3. METHODOLOGY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Machine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Learning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Dataset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Features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selection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Outliers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filtering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Evaluation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metrics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Model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Selection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4. RESULTS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Different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models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a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given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airport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Selected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model at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different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airports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Operational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solution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5. CONCLUSIONS AND FUTURE WORK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E963A-0334-9FAF-2717-C86028CE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s-ES" sz="744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744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420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63501" y="401058"/>
            <a:ext cx="71469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METHODOLOGY: Machine </a:t>
            </a:r>
            <a:r>
              <a:rPr lang="es-ES" sz="2400" spc="-5" dirty="0" err="1">
                <a:solidFill>
                  <a:schemeClr val="tx1"/>
                </a:solidFill>
              </a:rPr>
              <a:t>Learning</a:t>
            </a:r>
            <a:r>
              <a:rPr lang="es-ES" sz="2400" spc="-5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EBE34-77B4-FE99-F8F9-34B96729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3411" y="5232262"/>
            <a:ext cx="565178" cy="301904"/>
          </a:xfrm>
        </p:spPr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6703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63501" y="401058"/>
            <a:ext cx="71469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METHODOLOGY: </a:t>
            </a:r>
            <a:r>
              <a:rPr lang="es-ES" sz="2400" spc="-5" dirty="0" err="1">
                <a:solidFill>
                  <a:schemeClr val="tx1"/>
                </a:solidFill>
              </a:rPr>
              <a:t>Dataset</a:t>
            </a:r>
            <a:endParaRPr lang="es-ES" sz="2400" spc="-5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EBE34-77B4-FE99-F8F9-34B96729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3411" y="5232262"/>
            <a:ext cx="565178" cy="301904"/>
          </a:xfrm>
        </p:spPr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6267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63501" y="401058"/>
            <a:ext cx="71469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METHODOLOGY: </a:t>
            </a:r>
            <a:r>
              <a:rPr lang="es-ES" sz="2400" spc="-5" dirty="0" err="1">
                <a:solidFill>
                  <a:schemeClr val="tx1"/>
                </a:solidFill>
              </a:rPr>
              <a:t>Feature</a:t>
            </a:r>
            <a:r>
              <a:rPr lang="es-ES" sz="2400" spc="-5" dirty="0">
                <a:solidFill>
                  <a:schemeClr val="tx1"/>
                </a:solidFill>
              </a:rPr>
              <a:t> </a:t>
            </a:r>
            <a:r>
              <a:rPr lang="es-ES" sz="2400" spc="-5" dirty="0" err="1">
                <a:solidFill>
                  <a:schemeClr val="tx1"/>
                </a:solidFill>
              </a:rPr>
              <a:t>selection</a:t>
            </a:r>
            <a:endParaRPr lang="es-ES" sz="2400" spc="-5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EBE34-77B4-FE99-F8F9-34B96729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3411" y="5232262"/>
            <a:ext cx="565178" cy="301904"/>
          </a:xfrm>
        </p:spPr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3095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63501" y="401058"/>
            <a:ext cx="71469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METHODOLOGY: </a:t>
            </a:r>
            <a:r>
              <a:rPr lang="es-ES" sz="2400" spc="-5" dirty="0" err="1">
                <a:solidFill>
                  <a:schemeClr val="tx1"/>
                </a:solidFill>
              </a:rPr>
              <a:t>Outliers</a:t>
            </a:r>
            <a:r>
              <a:rPr lang="es-ES" sz="2400" spc="-5" dirty="0">
                <a:solidFill>
                  <a:schemeClr val="tx1"/>
                </a:solidFill>
              </a:rPr>
              <a:t> </a:t>
            </a:r>
            <a:r>
              <a:rPr lang="es-ES" sz="2400" spc="-5" dirty="0" err="1">
                <a:solidFill>
                  <a:schemeClr val="tx1"/>
                </a:solidFill>
              </a:rPr>
              <a:t>filtering</a:t>
            </a:r>
            <a:endParaRPr lang="es-ES" sz="2400" spc="-5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EBE34-77B4-FE99-F8F9-34B96729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3411" y="5232262"/>
            <a:ext cx="565178" cy="301904"/>
          </a:xfrm>
        </p:spPr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3183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63501" y="401058"/>
            <a:ext cx="71469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METHODOLOGY: </a:t>
            </a:r>
            <a:r>
              <a:rPr lang="es-ES" sz="2400" spc="-5" dirty="0" err="1">
                <a:solidFill>
                  <a:schemeClr val="tx1"/>
                </a:solidFill>
              </a:rPr>
              <a:t>Evaluation</a:t>
            </a:r>
            <a:r>
              <a:rPr lang="es-ES" sz="2400" spc="-5" dirty="0">
                <a:solidFill>
                  <a:schemeClr val="tx1"/>
                </a:solidFill>
              </a:rPr>
              <a:t> </a:t>
            </a:r>
            <a:r>
              <a:rPr lang="es-ES" sz="2400" spc="-5" dirty="0" err="1">
                <a:solidFill>
                  <a:schemeClr val="tx1"/>
                </a:solidFill>
              </a:rPr>
              <a:t>metrics</a:t>
            </a:r>
            <a:endParaRPr lang="es-ES" sz="2400" spc="-5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EBE34-77B4-FE99-F8F9-34B96729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3411" y="5232262"/>
            <a:ext cx="565178" cy="301904"/>
          </a:xfrm>
        </p:spPr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99805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63501" y="401058"/>
            <a:ext cx="714691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METHODOLOGY: Model </a:t>
            </a:r>
            <a:r>
              <a:rPr lang="es-ES" sz="2400" spc="-5" dirty="0" err="1">
                <a:solidFill>
                  <a:schemeClr val="tx1"/>
                </a:solidFill>
              </a:rPr>
              <a:t>selection</a:t>
            </a:r>
            <a:endParaRPr lang="es-ES" sz="2400" spc="-5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EBE34-77B4-FE99-F8F9-34B96729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3411" y="5232262"/>
            <a:ext cx="565178" cy="301904"/>
          </a:xfrm>
        </p:spPr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1691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00" y="320675"/>
            <a:ext cx="7086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5CD3F-EA91-FE78-7B70-4C989DA4829F}"/>
              </a:ext>
            </a:extLst>
          </p:cNvPr>
          <p:cNvSpPr txBox="1"/>
          <p:nvPr/>
        </p:nvSpPr>
        <p:spPr>
          <a:xfrm>
            <a:off x="850900" y="752475"/>
            <a:ext cx="906780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1. STATE OF THE ART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2. PROBLEM STATEMENT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3. METHODOLOGY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Machine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Learning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Dataset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Features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selection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Outliers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filtering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Evaluation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metrics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Model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Selection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4. RESULTS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Different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models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a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given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airport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Selected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model at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different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airports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Operational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solution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5. CONCLUSIONS AND FUTURE WORK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E963A-0334-9FAF-2717-C86028CE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s-ES" sz="744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744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383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816514E0-6DDE-4DA9-805F-11AA9B4EC5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900" y="351452"/>
            <a:ext cx="7162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RESULTS: </a:t>
            </a:r>
            <a:r>
              <a:rPr lang="es-ES" sz="2400" spc="-5" dirty="0" err="1">
                <a:solidFill>
                  <a:schemeClr val="tx1"/>
                </a:solidFill>
              </a:rPr>
              <a:t>Different</a:t>
            </a:r>
            <a:r>
              <a:rPr lang="es-ES" sz="2400" spc="-5" dirty="0">
                <a:solidFill>
                  <a:schemeClr val="tx1"/>
                </a:solidFill>
              </a:rPr>
              <a:t> </a:t>
            </a:r>
            <a:r>
              <a:rPr lang="es-ES" sz="2400" spc="-5" dirty="0" err="1">
                <a:solidFill>
                  <a:schemeClr val="tx1"/>
                </a:solidFill>
              </a:rPr>
              <a:t>models</a:t>
            </a:r>
            <a:r>
              <a:rPr lang="es-ES" sz="2400" spc="-5" dirty="0">
                <a:solidFill>
                  <a:schemeClr val="tx1"/>
                </a:solidFill>
              </a:rPr>
              <a:t> </a:t>
            </a:r>
            <a:r>
              <a:rPr lang="es-ES" sz="2400" spc="-5" dirty="0" err="1">
                <a:solidFill>
                  <a:schemeClr val="tx1"/>
                </a:solidFill>
              </a:rPr>
              <a:t>on</a:t>
            </a:r>
            <a:r>
              <a:rPr lang="es-ES" sz="2400" spc="-5" dirty="0">
                <a:solidFill>
                  <a:schemeClr val="tx1"/>
                </a:solidFill>
              </a:rPr>
              <a:t> a </a:t>
            </a:r>
            <a:r>
              <a:rPr lang="es-ES" sz="2400" spc="-5" dirty="0" err="1">
                <a:solidFill>
                  <a:schemeClr val="tx1"/>
                </a:solidFill>
              </a:rPr>
              <a:t>given</a:t>
            </a:r>
            <a:r>
              <a:rPr lang="es-ES" sz="2400" spc="-5" dirty="0">
                <a:solidFill>
                  <a:schemeClr val="tx1"/>
                </a:solidFill>
              </a:rPr>
              <a:t> </a:t>
            </a:r>
            <a:r>
              <a:rPr lang="es-ES" sz="2400" spc="-5" dirty="0" err="1">
                <a:solidFill>
                  <a:schemeClr val="tx1"/>
                </a:solidFill>
              </a:rPr>
              <a:t>airport</a:t>
            </a:r>
            <a:endParaRPr lang="es-ES" sz="2800" spc="-5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AA1583-B606-F4D0-0BF6-02B92050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4740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816514E0-6DDE-4DA9-805F-11AA9B4EC5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900" y="351452"/>
            <a:ext cx="7162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RESULTS: </a:t>
            </a:r>
            <a:r>
              <a:rPr lang="es-ES" sz="2400" spc="-5" dirty="0" err="1">
                <a:solidFill>
                  <a:schemeClr val="tx1"/>
                </a:solidFill>
              </a:rPr>
              <a:t>Selected</a:t>
            </a:r>
            <a:r>
              <a:rPr lang="es-ES" sz="2400" spc="-5" dirty="0">
                <a:solidFill>
                  <a:schemeClr val="tx1"/>
                </a:solidFill>
              </a:rPr>
              <a:t> model at </a:t>
            </a:r>
            <a:r>
              <a:rPr lang="es-ES" sz="2400" spc="-5" dirty="0" err="1">
                <a:solidFill>
                  <a:schemeClr val="tx1"/>
                </a:solidFill>
              </a:rPr>
              <a:t>different</a:t>
            </a:r>
            <a:r>
              <a:rPr lang="es-ES" sz="2400" spc="-5" dirty="0">
                <a:solidFill>
                  <a:schemeClr val="tx1"/>
                </a:solidFill>
              </a:rPr>
              <a:t> </a:t>
            </a:r>
            <a:r>
              <a:rPr lang="es-ES" sz="2400" spc="-5" dirty="0" err="1">
                <a:solidFill>
                  <a:schemeClr val="tx1"/>
                </a:solidFill>
              </a:rPr>
              <a:t>airports</a:t>
            </a:r>
            <a:endParaRPr lang="es-ES" sz="2800" spc="-5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AA1583-B606-F4D0-0BF6-02B92050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0956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816514E0-6DDE-4DA9-805F-11AA9B4EC5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900" y="351452"/>
            <a:ext cx="7162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RESULTS: </a:t>
            </a:r>
            <a:r>
              <a:rPr lang="es-ES" sz="2400" spc="-5" dirty="0" err="1">
                <a:solidFill>
                  <a:schemeClr val="tx1"/>
                </a:solidFill>
              </a:rPr>
              <a:t>Operational</a:t>
            </a:r>
            <a:r>
              <a:rPr lang="es-ES" sz="2400" spc="-5" dirty="0">
                <a:solidFill>
                  <a:schemeClr val="tx1"/>
                </a:solidFill>
              </a:rPr>
              <a:t> </a:t>
            </a:r>
            <a:r>
              <a:rPr lang="es-ES" sz="2400" spc="-5" dirty="0" err="1">
                <a:solidFill>
                  <a:schemeClr val="tx1"/>
                </a:solidFill>
              </a:rPr>
              <a:t>solution</a:t>
            </a:r>
            <a:endParaRPr lang="es-ES" sz="2800" spc="-5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AA1583-B606-F4D0-0BF6-02B92050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740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00" y="320675"/>
            <a:ext cx="7086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5CD3F-EA91-FE78-7B70-4C989DA4829F}"/>
              </a:ext>
            </a:extLst>
          </p:cNvPr>
          <p:cNvSpPr txBox="1"/>
          <p:nvPr/>
        </p:nvSpPr>
        <p:spPr>
          <a:xfrm>
            <a:off x="850900" y="752475"/>
            <a:ext cx="906780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1. STATE OF THE ART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2. PROBLEM STATEMENT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3. METHODOLOGY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Machine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Learning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Dataset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Features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selection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Outliers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filtering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Evaluation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metrics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Model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BEBEB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Selection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EBEBEB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4. RESULTS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Different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models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a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given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airport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Selected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model at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different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airports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Operational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solution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5. CONCLUSIONS AND FUTURE WORK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E963A-0334-9FAF-2717-C86028CE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s-ES" sz="744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" sz="744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874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9325963-5606-5C64-F35D-EB6AA6EABB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750" y="470193"/>
            <a:ext cx="7162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CONCLUSIONS</a:t>
            </a:r>
            <a:endParaRPr lang="es-ES" sz="2800" spc="-5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FC087-B6DF-BBED-8DB0-261AF678218C}"/>
              </a:ext>
            </a:extLst>
          </p:cNvPr>
          <p:cNvSpPr txBox="1"/>
          <p:nvPr/>
        </p:nvSpPr>
        <p:spPr>
          <a:xfrm>
            <a:off x="698500" y="1612200"/>
            <a:ext cx="9220200" cy="20313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dirty="0"/>
              <a:t>STRENGTHS: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	</a:t>
            </a:r>
          </a:p>
          <a:p>
            <a:pPr>
              <a:lnSpc>
                <a:spcPct val="150000"/>
              </a:lnSpc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lnSpc>
                <a:spcPct val="150000"/>
              </a:lnSpc>
            </a:pPr>
            <a:r>
              <a:rPr lang="es-ES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BA278A-299D-72F4-85FF-8DE292B0CC8B}"/>
              </a:ext>
            </a:extLst>
          </p:cNvPr>
          <p:cNvSpPr txBox="1"/>
          <p:nvPr/>
        </p:nvSpPr>
        <p:spPr>
          <a:xfrm>
            <a:off x="698500" y="3063875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WEAKNESSES: </a:t>
            </a:r>
          </a:p>
          <a:p>
            <a:endParaRPr lang="es-E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02BD4-0665-9DAA-25C0-50F9E2AA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9754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9325963-5606-5C64-F35D-EB6AA6EABB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25289"/>
            <a:ext cx="7162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>
              <a:lnSpc>
                <a:spcPct val="100000"/>
              </a:lnSpc>
              <a:spcBef>
                <a:spcPts val="100"/>
              </a:spcBef>
            </a:pPr>
            <a:r>
              <a:rPr lang="es-ES" sz="2400" spc="-5" dirty="0">
                <a:solidFill>
                  <a:schemeClr val="tx1"/>
                </a:solidFill>
              </a:rPr>
              <a:t>FUTURE WORK </a:t>
            </a:r>
            <a:endParaRPr lang="es-ES" sz="2800" spc="-5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3F279-29E4-D258-CEF4-2AF7D22E3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4431" y="5361661"/>
            <a:ext cx="565178" cy="301904"/>
          </a:xfrm>
        </p:spPr>
        <p:txBody>
          <a:bodyPr/>
          <a:lstStyle/>
          <a:p>
            <a:fld id="{B6F15528-21DE-4FAA-801E-634DDDAF4B2B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3558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2218-A36A-4CA0-B448-C195F8ED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481058"/>
            <a:ext cx="7924800" cy="2708434"/>
          </a:xfrm>
        </p:spPr>
        <p:txBody>
          <a:bodyPr/>
          <a:lstStyle/>
          <a:p>
            <a:pPr algn="ctr"/>
            <a:r>
              <a:rPr lang="es-ES" dirty="0" err="1"/>
              <a:t>Thanks</a:t>
            </a:r>
            <a:r>
              <a:rPr lang="es-ES" dirty="0"/>
              <a:t> for 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attention</a:t>
            </a:r>
            <a:br>
              <a:rPr lang="es-ES" dirty="0"/>
            </a:br>
            <a:br>
              <a:rPr lang="es-ES" dirty="0"/>
            </a:br>
            <a:r>
              <a:rPr lang="es-ES" dirty="0" err="1"/>
              <a:t>Questions</a:t>
            </a:r>
            <a:r>
              <a:rPr lang="es-ES" dirty="0"/>
              <a:t>?  </a:t>
            </a:r>
            <a:br>
              <a:rPr lang="es-ES" dirty="0"/>
            </a:b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5631C-460D-93A4-3CEC-0F510495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8506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2983</TotalTime>
  <Words>425</Words>
  <Application>Microsoft Office PowerPoint</Application>
  <PresentationFormat>Custom</PresentationFormat>
  <Paragraphs>147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Trebuchet MS</vt:lpstr>
      <vt:lpstr>Wingdings 3</vt:lpstr>
      <vt:lpstr>Facet</vt:lpstr>
      <vt:lpstr>A MACHINE LEARNING APPROACH TO IMPROVE THE PREDICTION OF AIRCRAFT TURNAROUND TIME</vt:lpstr>
      <vt:lpstr>MOTIVATION OF THE RESEARCH</vt:lpstr>
      <vt:lpstr>SUMMARY</vt:lpstr>
      <vt:lpstr>STATE OF THE ART:</vt:lpstr>
      <vt:lpstr>SUMMARY</vt:lpstr>
      <vt:lpstr>PROBLEM STATEMENT</vt:lpstr>
      <vt:lpstr>SUMMARY</vt:lpstr>
      <vt:lpstr>METHODOLOGY: Machine Learning  </vt:lpstr>
      <vt:lpstr>METHODOLOGY: Dataset</vt:lpstr>
      <vt:lpstr>METHODOLOGY: Feature selection</vt:lpstr>
      <vt:lpstr>METHODOLOGY: Outliers filtering</vt:lpstr>
      <vt:lpstr>METHODOLOGY: Evaluation metrics</vt:lpstr>
      <vt:lpstr>METHODOLOGY: Model selection</vt:lpstr>
      <vt:lpstr>SUMMARY</vt:lpstr>
      <vt:lpstr>RESULTS: Different models on a given airport</vt:lpstr>
      <vt:lpstr>RESULTS: Selected model at different airports</vt:lpstr>
      <vt:lpstr>RESULTS: Operational solution</vt:lpstr>
      <vt:lpstr>SUMMARY</vt:lpstr>
      <vt:lpstr>CONCLUSIONS</vt:lpstr>
      <vt:lpstr>FUTURE WORK </vt:lpstr>
      <vt:lpstr>Thanks for your attention  Questions?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WP4: Extreme Weather Prediction</dc:title>
  <dc:creator>alvaro reviriego moreno</dc:creator>
  <cp:lastModifiedBy>alvaro reviriego moreno</cp:lastModifiedBy>
  <cp:revision>45</cp:revision>
  <dcterms:created xsi:type="dcterms:W3CDTF">2021-11-16T20:02:52Z</dcterms:created>
  <dcterms:modified xsi:type="dcterms:W3CDTF">2024-09-25T19:28:04Z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2021-09-30T00:00:00Z</vt:filetime>
  </property>
  <property fmtid="{D5CDD505-2E9C-101B-9397-08002B2CF9AE}" pid="3" name="Creator">
    <vt:lpwstr>Impress</vt:lpwstr>
  </property>
  <property fmtid="{D5CDD505-2E9C-101B-9397-08002B2CF9AE}" pid="4" name="LastSaved">
    <vt:filetime>2021-11-16T00:00:00Z</vt:filetime>
  </property>
</Properties>
</file>